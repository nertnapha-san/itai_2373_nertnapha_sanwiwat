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49020" autoAdjust="0"/>
  </p:normalViewPr>
  <p:slideViewPr>
    <p:cSldViewPr snapToGrid="0" snapToObjects="1">
      <p:cViewPr varScale="1">
        <p:scale>
          <a:sx n="40" d="100"/>
          <a:sy n="40" d="100"/>
        </p:scale>
        <p:origin x="231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Sentiment Score</c:v>
                </c:pt>
              </c:strCache>
            </c:strRef>
          </c:tx>
          <c:spPr>
            <a:ln w="31750" cap="flat">
              <a:solidFill>
                <a:srgbClr val="1C7293"/>
              </a:solidFill>
              <a:prstDash val="solid"/>
              <a:round/>
            </a:ln>
            <a:effectLst/>
          </c:spPr>
          <c:marker>
            <c:symbol val="circle"/>
            <c:size val="6"/>
            <c:spPr>
              <a:solidFill>
                <a:srgbClr val="1C7293"/>
              </a:solidFill>
              <a:ln w="9525" cap="flat">
                <a:solidFill>
                  <a:srgbClr val="1C7293"/>
                </a:solidFill>
                <a:prstDash val="solid"/>
                <a:round/>
              </a:ln>
              <a:effectLst/>
            </c:spPr>
          </c:marker>
          <c:cat>
            <c:strRef>
              <c:f>Sheet1!$A$2:$A$7</c:f>
              <c:strCache>
                <c:ptCount val="6"/>
                <c:pt idx="0">
                  <c:v>Wk 1</c:v>
                </c:pt>
                <c:pt idx="1">
                  <c:v>Wk 2</c:v>
                </c:pt>
                <c:pt idx="2">
                  <c:v>Wk 3</c:v>
                </c:pt>
                <c:pt idx="3">
                  <c:v>Wk 4</c:v>
                </c:pt>
                <c:pt idx="4">
                  <c:v>Wk 5</c:v>
                </c:pt>
                <c:pt idx="5">
                  <c:v>Wk 6</c:v>
                </c:pt>
              </c:strCache>
            </c:strRef>
          </c:cat>
          <c:val>
            <c:numRef>
              <c:f>Sheet1!$B$2:$B$7</c:f>
              <c:numCache>
                <c:formatCode>General</c:formatCode>
                <c:ptCount val="6"/>
                <c:pt idx="0">
                  <c:v>0.15</c:v>
                </c:pt>
                <c:pt idx="1">
                  <c:v>-0.1</c:v>
                </c:pt>
                <c:pt idx="2">
                  <c:v>-0.35</c:v>
                </c:pt>
                <c:pt idx="3">
                  <c:v>-0.05</c:v>
                </c:pt>
                <c:pt idx="4">
                  <c:v>0.28000000000000003</c:v>
                </c:pt>
                <c:pt idx="5">
                  <c:v>0.42</c:v>
                </c:pt>
              </c:numCache>
            </c:numRef>
          </c:val>
          <c:smooth val="0"/>
          <c:extLst>
            <c:ext xmlns:c16="http://schemas.microsoft.com/office/drawing/2014/chart" uri="{C3380CC4-5D6E-409C-BE32-E72D297353CC}">
              <c16:uniqueId val="{00000000-2E90-45DA-9CB6-96AB7DEB5BE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max val="0.5"/>
          <c:min val="-0.5"/>
        </c:scaling>
        <c:delete val="0"/>
        <c:axPos val="l"/>
        <c:majorGridlines>
          <c:spPr>
            <a:ln w="12700" cap="flat">
              <a:solidFill>
                <a:srgbClr val="E5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545"/>
                </a:solidFill>
                <a:latin typeface="Calibri"/>
              </a:defRPr>
            </a:pPr>
            <a:r>
              <a:rPr lang="en-US" sz="1400" b="0" i="0" u="none" strike="noStrike">
                <a:solidFill>
                  <a:srgbClr val="0B2545"/>
                </a:solidFill>
                <a:latin typeface="Calibri"/>
              </a:rPr>
              <a:t>Component Evaluation Scores</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1C7293"/>
            </a:solidFill>
            <a:effectLst/>
          </c:spPr>
          <c:invertIfNegative val="0"/>
          <c:dLbls>
            <c:numFmt formatCode="0.00" sourceLinked="0"/>
            <c:spPr>
              <a:noFill/>
              <a:ln>
                <a:noFill/>
              </a:ln>
              <a:effectLst/>
            </c:spPr>
            <c:txPr>
              <a:bodyPr/>
              <a:lstStyle/>
              <a:p>
                <a:pPr>
                  <a:defRPr sz="1000" b="0" i="0" u="none" strike="noStrike">
                    <a:solidFill>
                      <a:srgbClr val="1B2733"/>
                    </a:solidFill>
                    <a:latin typeface="Arial"/>
                  </a:defRPr>
                </a:pPr>
                <a:endParaRPr lang="th-T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Classification
Accuracy</c:v>
                </c:pt>
                <c:pt idx="1">
                  <c:v>Sentiment
Accuracy</c:v>
                </c:pt>
                <c:pt idx="2">
                  <c:v>Topic
Coherence</c:v>
                </c:pt>
                <c:pt idx="3">
                  <c:v>Entity
Extraction F1</c:v>
                </c:pt>
                <c:pt idx="4">
                  <c:v>Summary
ROUGE-L</c:v>
                </c:pt>
              </c:strCache>
            </c:strRef>
          </c:cat>
          <c:val>
            <c:numRef>
              <c:f>Sheet1!$B$2:$B$6</c:f>
              <c:numCache>
                <c:formatCode>General</c:formatCode>
                <c:ptCount val="5"/>
                <c:pt idx="0">
                  <c:v>0.87</c:v>
                </c:pt>
                <c:pt idx="1">
                  <c:v>0.83</c:v>
                </c:pt>
                <c:pt idx="2">
                  <c:v>0.71</c:v>
                </c:pt>
                <c:pt idx="3">
                  <c:v>0.79</c:v>
                </c:pt>
                <c:pt idx="4">
                  <c:v>0.42</c:v>
                </c:pt>
              </c:numCache>
            </c:numRef>
          </c:val>
          <c:extLst>
            <c:ext xmlns:c16="http://schemas.microsoft.com/office/drawing/2014/chart" uri="{C3380CC4-5D6E-409C-BE32-E72D297353CC}">
              <c16:uniqueId val="{00000000-6803-471A-B116-A883AADA84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12700" cap="flat">
              <a:solidFill>
                <a:srgbClr val="E5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522265"/>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being here. My name is Nertnapha Sanwiwat, and today I'm presenting NewsBot Intelligence System 2.0, my final project for ITAI 2373. This project builds on the midterm NewsBot foundation and turns it into a full NLP platform that can classify, summarize, translate, and converse about news content. Over the next few minutes I'll walk through the architecture, the four core modules, how the system was tested, and the business value it delivers.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I'll start with why this project matters and how the system is architected, then walk through each of the four integrated modules — Content Analysis, Language Understanding, Multilingual Intelligence, and the Conversational Interface. I'll close with how we tested and evaluated the system, and what business value it creates. Each module maps directly to techniques we covered throughout the course, from classification and topic modeling to transformer-based language models and conversational 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Over a million articles are published daily, across many languages, and no human team can read and tag all of it manually. Newsrooms and analysts lose hours to manual reading, categorization, and trend spotting. That's the gap NewsBot 2.0 fills — a single system that automatically classifies, summarizes, translates, and lets you converse with the news, so insights that used to take hours take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built around four integrated modules. Module A, Content Analysis, handles classification, topic modeling, sentiment, and entity mapping — this is the core understanding layer. Module B adds language understanding and generation: summarization, semantic search, and content enhancement. Module C brings multilingual intelligence — detecting languages and comparing coverage across them. And Module D is the conversational interface that ties it all together, letting users just ask questions in plain English. These aren't siloed — they all feed into one integrated system, which I'll show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Module A. On the left is the classification system — a TF-IDF plus logistic regression pipeline that doesn't just output a single label, it gives confidence scores across categories, so an article can be tagged as both Business and Technology when the coverage genuinely overlaps. On the right is topic discovery using Latent Dirichlet Allocation, which automatically surfaces hidden themes in the corpus — like markets, elections, or AI — without any manual tagging. This lets NewsBot spot emerging trends across a large collection of articles instead of relying on predefined categories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in Module A — this slide covers two more pieces. On the left, sentiment evolution tracking uses a pretrained DistilBERT transformer to score sentiment, and we track it over time so you can see how tone shifts as a story develops, like this example around a rate decision. On the right, entity relationship mapping uses spaCy for named entity recognition and NetworkX to build a knowledge graph — linking people, organizations, and topics that appear together, which starts to reveal the connections behind a story, not just the individual facts.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 is language understanding and generation. Intelligent summarization uses a fine-tuned BART model — facebook/bart-large-cnn — to condense long articles into accurate, readable summaries. Semantic search uses sentence-transformer embeddings, specifically all-MiniLM-L6-v2, to find related articles by meaning rather than exact keyword matches. And content enhancement automatically flags missing perspectives — for example, noticing when an article covers the political angle of a story but misses the economic impact — so analysts get a fuller picture.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 is multilingual intelligence. The system automatically detects the language of incoming content using langdetect, then can translate and compare how the same underlying story is framed differently across languages and cultures. In this example, the same rate-hike story is covered with a neutral economic focus in English, a consumer-impact framing in Spanish, and a more critical, policy-focused tone in French. That kind of cross-lingual comparison is something a human analyst could do, but not at scale — NewsBot does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 is the conversational interface — this is what ties the whole system together for the end user. Instead of navigating filters or dashboards, users just type a question in plain English, like 'show me positive tech news from this week.' The system classifies the intent — search, compare, or summarize — pulls the relevant analysis from the other modules, and responds conversationally. This mockup shows a real interaction flow: a search query, then a natural follow-up asking to summarize the top result, all handled in context.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modules are useful in isolation, so a major part of this project was integration. The NewsBot2IntegratedSystem class initializes all components together, and every component is wrapped in safe initialization with fallback handling — so if, say, the summarization model fails to load, the rest of the system keeps running instead of crashing entirely. We also built a dedicated test suite, NewsBot2TestSuite, covering unit tests for individual components and end-to-end integration tests, plus basic runtime and memory profiling to catch performance bottlenecks.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evaluated the system. Classification accuracy came in above 85% across five news categories, and sentiment tracking closely matched human-labeled samples. Topic coherence was strong for clearly-defined categories like business and politics, but weaker on short or mixed-topic articles — which makes sense, since LDA relies on having enough distinguishing vocabulary. Summarization scored lower on ROUGE-L, which measures overlap with a reference summary — that's expected for abstractive summarization, which prioritizes fluent, human-like phrasing over word-for-word overlap. These numbers point to where the system is strong and where the next iteration should focus.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the technology stack behind all of this. For core NLP we used spaCy, NLTK, scikit-learn, and Gensim. For deep learning, Hugging Face Transformers powers the BART summarizer and DistilBERT sentiment model, sentence-transformers powers semantic search, and everything runs on PyTorch. For data handling and evaluation we used pandas, NumPy, NetworkX for the knowledge graph, and scikit-learn's metrics module. And for language detection and translation, we used langdetect combined with Hugging Face pipelines and some custom rule-based intent logic for the conversational layer.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actual business value? For newsrooms, this automates tagging and summarization, freeing editors to focus on original reporting instead of manual triage. For analysts and researchers, it turns a multi-day process of tracking sentiment and topic trends across thousands of articles into something that takes minutes. And for global organizations, it enables direct comparison of how the same story is being covered across languages and cultural contexts — something that's extremely labor-intensive to do by hand. Overall, this is a lean, transparent alternative to expensive enterprise media-monitoring tools, where you can see exactly how each insight was generated.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reflections. The biggest technical challenge was balancing model size against inference speed on limited compute — larger transformer models are more accurate but slower to run. Handling ambiguous, multi-part conversational queries was also harder than expected, since real user questions rarely fit neatly into one intent category. In terms of lessons learned: building in fallback handling early meant the system stayed usable even when individual components failed, pretrained transformers saved enormous development time compared to training from scratch, and evaluating each component early — rather than waiting until the end — helped us catch issues before they became bigger problems.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 are four clear directions for NewsBot 3.0. First, fine-tuning transformers like BERT or RoBERTa specifically on news classification data rather than relying purely on general-purpose pretrained models. Second, moving from batch processing to real-time streaming, so the system processes live news feeds as they publish. Third, adding bias and fact-check detection to flag potential political or cultural slant and cross-reference claims against reliable sources. And finally, as an optional bonus track, building a web application frontend so non-technical stakeholders can explore these insights through a live dashboard instead of a notebook.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To summarize: NewsBot Intelligence System 2.0 integrates classification, topic modeling, sentiment tracking, entity mapping, summarization, semantic search, multilingual analysis, and a conversational interface into one cohesive platform, all built on techniques from throughout this course. I'm happy to answer any questions, whether about the technical implementation, the evaluation results, or the business applications.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081A33"/>
          </a:solidFill>
          <a:ln/>
        </p:spPr>
        <p:txBody>
          <a:bodyPr/>
          <a:lstStyle/>
          <a:p>
            <a:endParaRPr lang="th-TH"/>
          </a:p>
        </p:txBody>
      </p:sp>
      <p:sp>
        <p:nvSpPr>
          <p:cNvPr id="3" name="Shape 1"/>
          <p:cNvSpPr/>
          <p:nvPr/>
        </p:nvSpPr>
        <p:spPr>
          <a:xfrm>
            <a:off x="10789920" y="4206240"/>
            <a:ext cx="2743200" cy="2743200"/>
          </a:xfrm>
          <a:prstGeom prst="ellipse">
            <a:avLst/>
          </a:prstGeom>
          <a:solidFill>
            <a:srgbClr val="1C7293">
              <a:alpha val="22000"/>
            </a:srgbClr>
          </a:solidFill>
          <a:ln/>
        </p:spPr>
        <p:txBody>
          <a:bodyPr/>
          <a:lstStyle/>
          <a:p>
            <a:endParaRPr lang="th-TH"/>
          </a:p>
        </p:txBody>
      </p:sp>
      <p:sp>
        <p:nvSpPr>
          <p:cNvPr id="4" name="Shape 2"/>
          <p:cNvSpPr/>
          <p:nvPr/>
        </p:nvSpPr>
        <p:spPr>
          <a:xfrm>
            <a:off x="-914400" y="4846320"/>
            <a:ext cx="2926080" cy="2926080"/>
          </a:xfrm>
          <a:prstGeom prst="ellipse">
            <a:avLst/>
          </a:prstGeom>
          <a:solidFill>
            <a:srgbClr val="1C7293">
              <a:alpha val="30000"/>
            </a:srgbClr>
          </a:solidFill>
          <a:ln/>
        </p:spPr>
        <p:txBody>
          <a:bodyPr/>
          <a:lstStyle/>
          <a:p>
            <a:endParaRPr lang="th-TH"/>
          </a:p>
        </p:txBody>
      </p:sp>
      <p:sp>
        <p:nvSpPr>
          <p:cNvPr id="5" name="Shape 3"/>
          <p:cNvSpPr/>
          <p:nvPr/>
        </p:nvSpPr>
        <p:spPr>
          <a:xfrm>
            <a:off x="914400" y="914400"/>
            <a:ext cx="109728" cy="109728"/>
          </a:xfrm>
          <a:prstGeom prst="ellipse">
            <a:avLst/>
          </a:prstGeom>
          <a:solidFill>
            <a:srgbClr val="E8A33D"/>
          </a:solidFill>
          <a:ln/>
        </p:spPr>
        <p:txBody>
          <a:bodyPr/>
          <a:lstStyle/>
          <a:p>
            <a:endParaRPr lang="th-TH"/>
          </a:p>
        </p:txBody>
      </p:sp>
      <p:sp>
        <p:nvSpPr>
          <p:cNvPr id="6" name="Shape 4"/>
          <p:cNvSpPr/>
          <p:nvPr/>
        </p:nvSpPr>
        <p:spPr>
          <a:xfrm>
            <a:off x="1463040" y="685800"/>
            <a:ext cx="109728" cy="109728"/>
          </a:xfrm>
          <a:prstGeom prst="ellipse">
            <a:avLst/>
          </a:prstGeom>
          <a:solidFill>
            <a:srgbClr val="E8A33D"/>
          </a:solidFill>
          <a:ln/>
        </p:spPr>
        <p:txBody>
          <a:bodyPr/>
          <a:lstStyle/>
          <a:p>
            <a:endParaRPr lang="th-TH"/>
          </a:p>
        </p:txBody>
      </p:sp>
      <p:sp>
        <p:nvSpPr>
          <p:cNvPr id="7" name="Shape 5"/>
          <p:cNvSpPr/>
          <p:nvPr/>
        </p:nvSpPr>
        <p:spPr>
          <a:xfrm>
            <a:off x="1737360" y="1234440"/>
            <a:ext cx="109728" cy="109728"/>
          </a:xfrm>
          <a:prstGeom prst="ellipse">
            <a:avLst/>
          </a:prstGeom>
          <a:solidFill>
            <a:srgbClr val="E8A33D"/>
          </a:solidFill>
          <a:ln/>
        </p:spPr>
        <p:txBody>
          <a:bodyPr/>
          <a:lstStyle/>
          <a:p>
            <a:endParaRPr lang="th-TH"/>
          </a:p>
        </p:txBody>
      </p:sp>
      <p:sp>
        <p:nvSpPr>
          <p:cNvPr id="8" name="Shape 6"/>
          <p:cNvSpPr/>
          <p:nvPr/>
        </p:nvSpPr>
        <p:spPr>
          <a:xfrm>
            <a:off x="969264" y="969264"/>
            <a:ext cx="493776" cy="0"/>
          </a:xfrm>
          <a:prstGeom prst="line">
            <a:avLst/>
          </a:prstGeom>
          <a:noFill/>
          <a:ln w="12700">
            <a:solidFill>
              <a:srgbClr val="E8A33D">
                <a:alpha val="60000"/>
              </a:srgbClr>
            </a:solidFill>
            <a:prstDash val="solid"/>
          </a:ln>
        </p:spPr>
        <p:txBody>
          <a:bodyPr/>
          <a:lstStyle/>
          <a:p>
            <a:endParaRPr lang="th-TH"/>
          </a:p>
        </p:txBody>
      </p:sp>
      <p:sp>
        <p:nvSpPr>
          <p:cNvPr id="9" name="Shape 7"/>
          <p:cNvSpPr/>
          <p:nvPr/>
        </p:nvSpPr>
        <p:spPr>
          <a:xfrm>
            <a:off x="1517904" y="740664"/>
            <a:ext cx="219456" cy="493776"/>
          </a:xfrm>
          <a:prstGeom prst="line">
            <a:avLst/>
          </a:prstGeom>
          <a:noFill/>
          <a:ln w="12700">
            <a:solidFill>
              <a:srgbClr val="E8A33D">
                <a:alpha val="60000"/>
              </a:srgbClr>
            </a:solidFill>
            <a:prstDash val="solid"/>
          </a:ln>
        </p:spPr>
        <p:txBody>
          <a:bodyPr/>
          <a:lstStyle/>
          <a:p>
            <a:endParaRPr lang="th-TH"/>
          </a:p>
        </p:txBody>
      </p:sp>
      <p:sp>
        <p:nvSpPr>
          <p:cNvPr id="10" name="Text 8"/>
          <p:cNvSpPr/>
          <p:nvPr/>
        </p:nvSpPr>
        <p:spPr>
          <a:xfrm>
            <a:off x="822960" y="1417320"/>
            <a:ext cx="7315200" cy="365760"/>
          </a:xfrm>
          <a:prstGeom prst="rect">
            <a:avLst/>
          </a:prstGeom>
          <a:noFill/>
          <a:ln/>
        </p:spPr>
        <p:txBody>
          <a:bodyPr wrap="square"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ITAI 2373 · FINAL PROJECT</a:t>
            </a:r>
            <a:endParaRPr lang="en-US" sz="1400" dirty="0"/>
          </a:p>
        </p:txBody>
      </p:sp>
      <p:sp>
        <p:nvSpPr>
          <p:cNvPr id="11" name="Text 9"/>
          <p:cNvSpPr/>
          <p:nvPr/>
        </p:nvSpPr>
        <p:spPr>
          <a:xfrm>
            <a:off x="777240" y="1874520"/>
            <a:ext cx="8961120" cy="192024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NewsBot Intelligence</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System 2.0</a:t>
            </a:r>
            <a:endParaRPr lang="en-US" sz="4600" dirty="0"/>
          </a:p>
        </p:txBody>
      </p:sp>
      <p:sp>
        <p:nvSpPr>
          <p:cNvPr id="12" name="Text 10"/>
          <p:cNvSpPr/>
          <p:nvPr/>
        </p:nvSpPr>
        <p:spPr>
          <a:xfrm>
            <a:off x="822960" y="3794760"/>
            <a:ext cx="7498080" cy="822960"/>
          </a:xfrm>
          <a:prstGeom prst="rect">
            <a:avLst/>
          </a:prstGeom>
          <a:noFill/>
          <a:ln/>
        </p:spPr>
        <p:txBody>
          <a:bodyPr wrap="square" rtlCol="0" anchor="ctr"/>
          <a:lstStyle/>
          <a:p>
            <a:pPr marL="0" indent="0">
              <a:lnSpc>
                <a:spcPts val="2100"/>
              </a:lnSpc>
              <a:buNone/>
            </a:pPr>
            <a:r>
              <a:rPr lang="en-US" sz="1500" dirty="0">
                <a:solidFill>
                  <a:srgbClr val="CADCFC"/>
                </a:solidFill>
                <a:latin typeface="Calibri" pitchFamily="34" charset="0"/>
                <a:ea typeface="Calibri" pitchFamily="34" charset="-122"/>
                <a:cs typeface="Calibri" pitchFamily="34" charset="-120"/>
              </a:rPr>
              <a:t>An advanced NLP platform for classification, topic discovery, summarization, multilingual analysis, and conversational news intelligence.</a:t>
            </a:r>
            <a:endParaRPr lang="en-US" sz="1500" dirty="0"/>
          </a:p>
        </p:txBody>
      </p:sp>
      <p:sp>
        <p:nvSpPr>
          <p:cNvPr id="13" name="Shape 11"/>
          <p:cNvSpPr/>
          <p:nvPr/>
        </p:nvSpPr>
        <p:spPr>
          <a:xfrm>
            <a:off x="822960" y="4892040"/>
            <a:ext cx="2011680" cy="0"/>
          </a:xfrm>
          <a:prstGeom prst="line">
            <a:avLst/>
          </a:prstGeom>
          <a:noFill/>
          <a:ln w="25400">
            <a:solidFill>
              <a:srgbClr val="E8A33D"/>
            </a:solidFill>
            <a:prstDash val="solid"/>
          </a:ln>
        </p:spPr>
        <p:txBody>
          <a:bodyPr/>
          <a:lstStyle/>
          <a:p>
            <a:endParaRPr lang="th-TH"/>
          </a:p>
        </p:txBody>
      </p:sp>
      <p:sp>
        <p:nvSpPr>
          <p:cNvPr id="14" name="Text 12"/>
          <p:cNvSpPr/>
          <p:nvPr/>
        </p:nvSpPr>
        <p:spPr>
          <a:xfrm>
            <a:off x="822960" y="507492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Nertnapha Sanwiwat</a:t>
            </a:r>
            <a:endParaRPr lang="en-US" sz="1600" dirty="0"/>
          </a:p>
        </p:txBody>
      </p:sp>
      <p:sp>
        <p:nvSpPr>
          <p:cNvPr id="15" name="Text 13"/>
          <p:cNvSpPr/>
          <p:nvPr/>
        </p:nvSpPr>
        <p:spPr>
          <a:xfrm>
            <a:off x="822960" y="5440680"/>
            <a:ext cx="731520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ITAI 2373 — Natural Language Processing  |  Houston Community College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85800"/>
            <a:ext cx="7315200" cy="640080"/>
          </a:xfrm>
          <a:prstGeom prst="rect">
            <a:avLst/>
          </a:prstGeom>
          <a:noFill/>
          <a:ln/>
        </p:spPr>
        <p:txBody>
          <a:bodyPr wrap="square"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What We'll Cover</a:t>
            </a:r>
            <a:endParaRPr lang="en-US" sz="3400" dirty="0"/>
          </a:p>
        </p:txBody>
      </p:sp>
      <p:sp>
        <p:nvSpPr>
          <p:cNvPr id="4" name="Shape 2"/>
          <p:cNvSpPr/>
          <p:nvPr/>
        </p:nvSpPr>
        <p:spPr>
          <a:xfrm>
            <a:off x="640080" y="1645920"/>
            <a:ext cx="502920" cy="502920"/>
          </a:xfrm>
          <a:prstGeom prst="ellipse">
            <a:avLst/>
          </a:prstGeom>
          <a:solidFill>
            <a:srgbClr val="E8A33D"/>
          </a:solidFill>
          <a:ln w="12700">
            <a:solidFill>
              <a:srgbClr val="1C7293"/>
            </a:solidFill>
            <a:prstDash val="solid"/>
          </a:ln>
        </p:spPr>
        <p:txBody>
          <a:bodyPr/>
          <a:lstStyle/>
          <a:p>
            <a:endParaRPr lang="th-TH"/>
          </a:p>
        </p:txBody>
      </p:sp>
      <p:sp>
        <p:nvSpPr>
          <p:cNvPr id="5" name="Text 3"/>
          <p:cNvSpPr/>
          <p:nvPr/>
        </p:nvSpPr>
        <p:spPr>
          <a:xfrm>
            <a:off x="640080" y="1645920"/>
            <a:ext cx="502920" cy="502920"/>
          </a:xfrm>
          <a:prstGeom prst="rect">
            <a:avLst/>
          </a:prstGeom>
          <a:noFill/>
          <a:ln/>
        </p:spPr>
        <p:txBody>
          <a:bodyPr wrap="square" rtlCol="0" anchor="ctr"/>
          <a:lstStyle/>
          <a:p>
            <a:pPr marL="0" indent="0" algn="ctr">
              <a:buNone/>
            </a:pPr>
            <a:r>
              <a:rPr lang="en-US" sz="1400" b="1" dirty="0">
                <a:solidFill>
                  <a:srgbClr val="081A33"/>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417320" y="1600200"/>
            <a:ext cx="5120640" cy="36576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Project Overview</a:t>
            </a:r>
            <a:endParaRPr lang="en-US" sz="1600" dirty="0"/>
          </a:p>
        </p:txBody>
      </p:sp>
      <p:sp>
        <p:nvSpPr>
          <p:cNvPr id="7" name="Text 5"/>
          <p:cNvSpPr/>
          <p:nvPr/>
        </p:nvSpPr>
        <p:spPr>
          <a:xfrm>
            <a:off x="1417320" y="1947672"/>
            <a:ext cx="5852160" cy="457200"/>
          </a:xfrm>
          <a:prstGeom prst="rect">
            <a:avLst/>
          </a:prstGeom>
          <a:noFill/>
          <a:ln/>
        </p:spPr>
        <p:txBody>
          <a:bodyPr wrap="square" rtlCol="0" anchor="ctr"/>
          <a:lstStyle/>
          <a:p>
            <a:pPr marL="0" indent="0">
              <a:buNone/>
            </a:pPr>
            <a:r>
              <a:rPr lang="en-US" sz="1200" dirty="0">
                <a:solidFill>
                  <a:srgbClr val="5B6B7C"/>
                </a:solidFill>
                <a:latin typeface="Calibri" pitchFamily="34" charset="0"/>
                <a:ea typeface="Calibri" pitchFamily="34" charset="-122"/>
                <a:cs typeface="Calibri" pitchFamily="34" charset="-120"/>
              </a:rPr>
              <a:t>Motivation, goals, and the four-module architecture</a:t>
            </a:r>
            <a:endParaRPr lang="en-US" sz="1200" dirty="0"/>
          </a:p>
        </p:txBody>
      </p:sp>
      <p:sp>
        <p:nvSpPr>
          <p:cNvPr id="8" name="Shape 6"/>
          <p:cNvSpPr/>
          <p:nvPr/>
        </p:nvSpPr>
        <p:spPr>
          <a:xfrm>
            <a:off x="640080" y="2560320"/>
            <a:ext cx="502920" cy="502920"/>
          </a:xfrm>
          <a:prstGeom prst="ellipse">
            <a:avLst/>
          </a:prstGeom>
          <a:solidFill>
            <a:srgbClr val="F4F7FA"/>
          </a:solidFill>
          <a:ln w="12700">
            <a:solidFill>
              <a:srgbClr val="1C7293"/>
            </a:solidFill>
            <a:prstDash val="solid"/>
          </a:ln>
        </p:spPr>
        <p:txBody>
          <a:bodyPr/>
          <a:lstStyle/>
          <a:p>
            <a:endParaRPr lang="th-TH"/>
          </a:p>
        </p:txBody>
      </p:sp>
      <p:sp>
        <p:nvSpPr>
          <p:cNvPr id="9" name="Text 7"/>
          <p:cNvSpPr/>
          <p:nvPr/>
        </p:nvSpPr>
        <p:spPr>
          <a:xfrm>
            <a:off x="640080" y="2560320"/>
            <a:ext cx="502920" cy="50292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1417320" y="2514600"/>
            <a:ext cx="5120640" cy="36576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Content Analysis Engine</a:t>
            </a:r>
            <a:endParaRPr lang="en-US" sz="1600" dirty="0"/>
          </a:p>
        </p:txBody>
      </p:sp>
      <p:sp>
        <p:nvSpPr>
          <p:cNvPr id="11" name="Text 9"/>
          <p:cNvSpPr/>
          <p:nvPr/>
        </p:nvSpPr>
        <p:spPr>
          <a:xfrm>
            <a:off x="1417320" y="2862072"/>
            <a:ext cx="5852160" cy="457200"/>
          </a:xfrm>
          <a:prstGeom prst="rect">
            <a:avLst/>
          </a:prstGeom>
          <a:noFill/>
          <a:ln/>
        </p:spPr>
        <p:txBody>
          <a:bodyPr wrap="square" rtlCol="0" anchor="ctr"/>
          <a:lstStyle/>
          <a:p>
            <a:pPr marL="0" indent="0">
              <a:buNone/>
            </a:pPr>
            <a:r>
              <a:rPr lang="en-US" sz="1200" dirty="0">
                <a:solidFill>
                  <a:srgbClr val="5B6B7C"/>
                </a:solidFill>
                <a:latin typeface="Calibri" pitchFamily="34" charset="0"/>
                <a:ea typeface="Calibri" pitchFamily="34" charset="-122"/>
                <a:cs typeface="Calibri" pitchFamily="34" charset="-120"/>
              </a:rPr>
              <a:t>Classification, topic modeling, sentiment, entity mapping</a:t>
            </a:r>
            <a:endParaRPr lang="en-US" sz="1200" dirty="0"/>
          </a:p>
        </p:txBody>
      </p:sp>
      <p:sp>
        <p:nvSpPr>
          <p:cNvPr id="12" name="Shape 10"/>
          <p:cNvSpPr/>
          <p:nvPr/>
        </p:nvSpPr>
        <p:spPr>
          <a:xfrm>
            <a:off x="640080" y="3474720"/>
            <a:ext cx="502920" cy="502920"/>
          </a:xfrm>
          <a:prstGeom prst="ellipse">
            <a:avLst/>
          </a:prstGeom>
          <a:solidFill>
            <a:srgbClr val="F4F7FA"/>
          </a:solidFill>
          <a:ln w="12700">
            <a:solidFill>
              <a:srgbClr val="1C7293"/>
            </a:solidFill>
            <a:prstDash val="solid"/>
          </a:ln>
        </p:spPr>
        <p:txBody>
          <a:bodyPr/>
          <a:lstStyle/>
          <a:p>
            <a:endParaRPr lang="th-TH"/>
          </a:p>
        </p:txBody>
      </p:sp>
      <p:sp>
        <p:nvSpPr>
          <p:cNvPr id="13" name="Text 11"/>
          <p:cNvSpPr/>
          <p:nvPr/>
        </p:nvSpPr>
        <p:spPr>
          <a:xfrm>
            <a:off x="640080" y="3474720"/>
            <a:ext cx="502920" cy="50292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417320" y="3429000"/>
            <a:ext cx="5120640" cy="36576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Language &amp; Multilingual AI</a:t>
            </a:r>
            <a:endParaRPr lang="en-US" sz="1600" dirty="0"/>
          </a:p>
        </p:txBody>
      </p:sp>
      <p:sp>
        <p:nvSpPr>
          <p:cNvPr id="15" name="Text 13"/>
          <p:cNvSpPr/>
          <p:nvPr/>
        </p:nvSpPr>
        <p:spPr>
          <a:xfrm>
            <a:off x="1417320" y="3776472"/>
            <a:ext cx="5852160" cy="457200"/>
          </a:xfrm>
          <a:prstGeom prst="rect">
            <a:avLst/>
          </a:prstGeom>
          <a:noFill/>
          <a:ln/>
        </p:spPr>
        <p:txBody>
          <a:bodyPr wrap="square" rtlCol="0" anchor="ctr"/>
          <a:lstStyle/>
          <a:p>
            <a:pPr marL="0" indent="0">
              <a:buNone/>
            </a:pPr>
            <a:r>
              <a:rPr lang="en-US" sz="1200" dirty="0">
                <a:solidFill>
                  <a:srgbClr val="5B6B7C"/>
                </a:solidFill>
                <a:latin typeface="Calibri" pitchFamily="34" charset="0"/>
                <a:ea typeface="Calibri" pitchFamily="34" charset="-122"/>
                <a:cs typeface="Calibri" pitchFamily="34" charset="-120"/>
              </a:rPr>
              <a:t>Summarization, semantic search, translation, cultural context</a:t>
            </a:r>
            <a:endParaRPr lang="en-US" sz="1200" dirty="0"/>
          </a:p>
        </p:txBody>
      </p:sp>
      <p:sp>
        <p:nvSpPr>
          <p:cNvPr id="16" name="Shape 14"/>
          <p:cNvSpPr/>
          <p:nvPr/>
        </p:nvSpPr>
        <p:spPr>
          <a:xfrm>
            <a:off x="640080" y="4389120"/>
            <a:ext cx="502920" cy="502920"/>
          </a:xfrm>
          <a:prstGeom prst="ellipse">
            <a:avLst/>
          </a:prstGeom>
          <a:solidFill>
            <a:srgbClr val="F4F7FA"/>
          </a:solidFill>
          <a:ln w="12700">
            <a:solidFill>
              <a:srgbClr val="1C7293"/>
            </a:solidFill>
            <a:prstDash val="solid"/>
          </a:ln>
        </p:spPr>
        <p:txBody>
          <a:bodyPr/>
          <a:lstStyle/>
          <a:p>
            <a:endParaRPr lang="th-TH"/>
          </a:p>
        </p:txBody>
      </p:sp>
      <p:sp>
        <p:nvSpPr>
          <p:cNvPr id="17" name="Text 15"/>
          <p:cNvSpPr/>
          <p:nvPr/>
        </p:nvSpPr>
        <p:spPr>
          <a:xfrm>
            <a:off x="640080" y="4389120"/>
            <a:ext cx="502920" cy="50292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1417320" y="4343400"/>
            <a:ext cx="5120640" cy="36576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Conversational Interface</a:t>
            </a:r>
            <a:endParaRPr lang="en-US" sz="1600" dirty="0"/>
          </a:p>
        </p:txBody>
      </p:sp>
      <p:sp>
        <p:nvSpPr>
          <p:cNvPr id="19" name="Text 17"/>
          <p:cNvSpPr/>
          <p:nvPr/>
        </p:nvSpPr>
        <p:spPr>
          <a:xfrm>
            <a:off x="1417320" y="4690872"/>
            <a:ext cx="5852160" cy="457200"/>
          </a:xfrm>
          <a:prstGeom prst="rect">
            <a:avLst/>
          </a:prstGeom>
          <a:noFill/>
          <a:ln/>
        </p:spPr>
        <p:txBody>
          <a:bodyPr wrap="square" rtlCol="0" anchor="ctr"/>
          <a:lstStyle/>
          <a:p>
            <a:pPr marL="0" indent="0">
              <a:buNone/>
            </a:pPr>
            <a:r>
              <a:rPr lang="en-US" sz="1200" dirty="0">
                <a:solidFill>
                  <a:srgbClr val="5B6B7C"/>
                </a:solidFill>
                <a:latin typeface="Calibri" pitchFamily="34" charset="0"/>
                <a:ea typeface="Calibri" pitchFamily="34" charset="-122"/>
                <a:cs typeface="Calibri" pitchFamily="34" charset="-120"/>
              </a:rPr>
              <a:t>Natural language queries and intent understanding</a:t>
            </a:r>
            <a:endParaRPr lang="en-US" sz="1200" dirty="0"/>
          </a:p>
        </p:txBody>
      </p:sp>
      <p:sp>
        <p:nvSpPr>
          <p:cNvPr id="20" name="Shape 18"/>
          <p:cNvSpPr/>
          <p:nvPr/>
        </p:nvSpPr>
        <p:spPr>
          <a:xfrm>
            <a:off x="640080" y="5303520"/>
            <a:ext cx="502920" cy="502920"/>
          </a:xfrm>
          <a:prstGeom prst="ellipse">
            <a:avLst/>
          </a:prstGeom>
          <a:solidFill>
            <a:srgbClr val="F4F7FA"/>
          </a:solidFill>
          <a:ln w="12700">
            <a:solidFill>
              <a:srgbClr val="1C7293"/>
            </a:solidFill>
            <a:prstDash val="solid"/>
          </a:ln>
        </p:spPr>
        <p:txBody>
          <a:bodyPr/>
          <a:lstStyle/>
          <a:p>
            <a:endParaRPr lang="th-TH"/>
          </a:p>
        </p:txBody>
      </p:sp>
      <p:sp>
        <p:nvSpPr>
          <p:cNvPr id="21" name="Text 19"/>
          <p:cNvSpPr/>
          <p:nvPr/>
        </p:nvSpPr>
        <p:spPr>
          <a:xfrm>
            <a:off x="640080" y="5303520"/>
            <a:ext cx="502920" cy="50292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1417320" y="5257800"/>
            <a:ext cx="5120640" cy="36576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Integration, Testing &amp; Results</a:t>
            </a:r>
            <a:endParaRPr lang="en-US" sz="1600" dirty="0"/>
          </a:p>
        </p:txBody>
      </p:sp>
      <p:sp>
        <p:nvSpPr>
          <p:cNvPr id="23" name="Text 21"/>
          <p:cNvSpPr/>
          <p:nvPr/>
        </p:nvSpPr>
        <p:spPr>
          <a:xfrm>
            <a:off x="1417320" y="5605272"/>
            <a:ext cx="5852160" cy="457200"/>
          </a:xfrm>
          <a:prstGeom prst="rect">
            <a:avLst/>
          </a:prstGeom>
          <a:noFill/>
          <a:ln/>
        </p:spPr>
        <p:txBody>
          <a:bodyPr wrap="square" rtlCol="0" anchor="ctr"/>
          <a:lstStyle/>
          <a:p>
            <a:pPr marL="0" indent="0">
              <a:buNone/>
            </a:pPr>
            <a:r>
              <a:rPr lang="en-US" sz="1200" dirty="0">
                <a:solidFill>
                  <a:srgbClr val="5B6B7C"/>
                </a:solidFill>
                <a:latin typeface="Calibri" pitchFamily="34" charset="0"/>
                <a:ea typeface="Calibri" pitchFamily="34" charset="-122"/>
                <a:cs typeface="Calibri" pitchFamily="34" charset="-120"/>
              </a:rPr>
              <a:t>System evaluation, metrics, and business impact</a:t>
            </a:r>
            <a:endParaRPr lang="en-US" sz="1200" dirty="0"/>
          </a:p>
        </p:txBody>
      </p:sp>
      <p:sp>
        <p:nvSpPr>
          <p:cNvPr id="24" name="Shape 22"/>
          <p:cNvSpPr/>
          <p:nvPr/>
        </p:nvSpPr>
        <p:spPr>
          <a:xfrm>
            <a:off x="7863840" y="1554480"/>
            <a:ext cx="3749040" cy="4572000"/>
          </a:xfrm>
          <a:prstGeom prst="roundRect">
            <a:avLst>
              <a:gd name="adj" fmla="val 2927"/>
            </a:avLst>
          </a:prstGeom>
          <a:solidFill>
            <a:srgbClr val="0B2545"/>
          </a:solidFill>
          <a:ln/>
        </p:spPr>
        <p:txBody>
          <a:bodyPr/>
          <a:lstStyle/>
          <a:p>
            <a:endParaRPr lang="th-TH"/>
          </a:p>
        </p:txBody>
      </p:sp>
      <p:sp>
        <p:nvSpPr>
          <p:cNvPr id="25" name="Text 23"/>
          <p:cNvSpPr/>
          <p:nvPr/>
        </p:nvSpPr>
        <p:spPr>
          <a:xfrm>
            <a:off x="8138160" y="1783080"/>
            <a:ext cx="3200400" cy="731520"/>
          </a:xfrm>
          <a:prstGeom prst="rect">
            <a:avLst/>
          </a:prstGeom>
          <a:noFill/>
          <a:ln/>
        </p:spPr>
        <p:txBody>
          <a:bodyPr wrap="square" rtlCol="0" anchor="ctr"/>
          <a:lstStyle/>
          <a:p>
            <a:pPr marL="0" indent="0">
              <a:lnSpc>
                <a:spcPts val="2200"/>
              </a:lnSpc>
              <a:buNone/>
            </a:pPr>
            <a:r>
              <a:rPr lang="en-US" sz="2000" b="1" dirty="0">
                <a:solidFill>
                  <a:srgbClr val="FFFFFF"/>
                </a:solidFill>
                <a:latin typeface="Cambria" pitchFamily="34" charset="0"/>
                <a:ea typeface="Cambria" pitchFamily="34" charset="-122"/>
                <a:cs typeface="Cambria" pitchFamily="34" charset="-120"/>
              </a:rPr>
              <a:t>4 Integrated</a:t>
            </a:r>
            <a:endParaRPr lang="en-US" sz="2000" dirty="0"/>
          </a:p>
          <a:p>
            <a:pPr marL="0" indent="0">
              <a:lnSpc>
                <a:spcPts val="2200"/>
              </a:lnSpc>
              <a:buNone/>
            </a:pPr>
            <a:r>
              <a:rPr lang="en-US" sz="2000" b="1" dirty="0">
                <a:solidFill>
                  <a:srgbClr val="FFFFFF"/>
                </a:solidFill>
                <a:latin typeface="Cambria" pitchFamily="34" charset="0"/>
                <a:ea typeface="Cambria" pitchFamily="34" charset="-122"/>
                <a:cs typeface="Cambria" pitchFamily="34" charset="-120"/>
              </a:rPr>
              <a:t>Modules</a:t>
            </a:r>
            <a:endParaRPr lang="en-US" sz="2000" dirty="0"/>
          </a:p>
        </p:txBody>
      </p:sp>
      <p:sp>
        <p:nvSpPr>
          <p:cNvPr id="26" name="Shape 24"/>
          <p:cNvSpPr/>
          <p:nvPr/>
        </p:nvSpPr>
        <p:spPr>
          <a:xfrm>
            <a:off x="8183880" y="2697480"/>
            <a:ext cx="384048" cy="384048"/>
          </a:xfrm>
          <a:prstGeom prst="ellipse">
            <a:avLst/>
          </a:prstGeom>
          <a:solidFill>
            <a:srgbClr val="E8A33D"/>
          </a:solidFill>
          <a:ln/>
        </p:spPr>
        <p:txBody>
          <a:bodyPr/>
          <a:lstStyle/>
          <a:p>
            <a:endParaRPr lang="th-TH"/>
          </a:p>
        </p:txBody>
      </p:sp>
      <p:sp>
        <p:nvSpPr>
          <p:cNvPr id="27" name="Text 25"/>
          <p:cNvSpPr/>
          <p:nvPr/>
        </p:nvSpPr>
        <p:spPr>
          <a:xfrm>
            <a:off x="8183880" y="2697480"/>
            <a:ext cx="384048" cy="384048"/>
          </a:xfrm>
          <a:prstGeom prst="rect">
            <a:avLst/>
          </a:prstGeom>
          <a:noFill/>
          <a:ln/>
        </p:spPr>
        <p:txBody>
          <a:bodyPr wrap="square" rtlCol="0" anchor="ctr"/>
          <a:lstStyle/>
          <a:p>
            <a:pPr marL="0" indent="0" algn="ctr">
              <a:buNone/>
            </a:pPr>
            <a:r>
              <a:rPr lang="en-US" sz="1300" b="1" dirty="0">
                <a:solidFill>
                  <a:srgbClr val="081A33"/>
                </a:solidFill>
                <a:latin typeface="Calibri" pitchFamily="34" charset="0"/>
                <a:ea typeface="Calibri" pitchFamily="34" charset="-122"/>
                <a:cs typeface="Calibri" pitchFamily="34" charset="-120"/>
              </a:rPr>
              <a:t>A</a:t>
            </a:r>
            <a:endParaRPr lang="en-US" sz="1300" dirty="0"/>
          </a:p>
        </p:txBody>
      </p:sp>
      <p:sp>
        <p:nvSpPr>
          <p:cNvPr id="28" name="Text 26"/>
          <p:cNvSpPr/>
          <p:nvPr/>
        </p:nvSpPr>
        <p:spPr>
          <a:xfrm>
            <a:off x="8686800" y="2715768"/>
            <a:ext cx="2743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Content Analysis</a:t>
            </a:r>
            <a:endParaRPr lang="en-US" sz="1300" dirty="0"/>
          </a:p>
        </p:txBody>
      </p:sp>
      <p:sp>
        <p:nvSpPr>
          <p:cNvPr id="29" name="Shape 27"/>
          <p:cNvSpPr/>
          <p:nvPr/>
        </p:nvSpPr>
        <p:spPr>
          <a:xfrm>
            <a:off x="8183880" y="3383280"/>
            <a:ext cx="384048" cy="384048"/>
          </a:xfrm>
          <a:prstGeom prst="ellipse">
            <a:avLst/>
          </a:prstGeom>
          <a:solidFill>
            <a:srgbClr val="E8A33D"/>
          </a:solidFill>
          <a:ln/>
        </p:spPr>
        <p:txBody>
          <a:bodyPr/>
          <a:lstStyle/>
          <a:p>
            <a:endParaRPr lang="th-TH"/>
          </a:p>
        </p:txBody>
      </p:sp>
      <p:sp>
        <p:nvSpPr>
          <p:cNvPr id="30" name="Text 28"/>
          <p:cNvSpPr/>
          <p:nvPr/>
        </p:nvSpPr>
        <p:spPr>
          <a:xfrm>
            <a:off x="8183880" y="3383280"/>
            <a:ext cx="384048" cy="384048"/>
          </a:xfrm>
          <a:prstGeom prst="rect">
            <a:avLst/>
          </a:prstGeom>
          <a:noFill/>
          <a:ln/>
        </p:spPr>
        <p:txBody>
          <a:bodyPr wrap="square" rtlCol="0" anchor="ctr"/>
          <a:lstStyle/>
          <a:p>
            <a:pPr marL="0" indent="0" algn="ctr">
              <a:buNone/>
            </a:pPr>
            <a:r>
              <a:rPr lang="en-US" sz="1300" b="1" dirty="0">
                <a:solidFill>
                  <a:srgbClr val="081A33"/>
                </a:solidFill>
                <a:latin typeface="Calibri" pitchFamily="34" charset="0"/>
                <a:ea typeface="Calibri" pitchFamily="34" charset="-122"/>
                <a:cs typeface="Calibri" pitchFamily="34" charset="-120"/>
              </a:rPr>
              <a:t>B</a:t>
            </a:r>
            <a:endParaRPr lang="en-US" sz="1300" dirty="0"/>
          </a:p>
        </p:txBody>
      </p:sp>
      <p:sp>
        <p:nvSpPr>
          <p:cNvPr id="31" name="Text 29"/>
          <p:cNvSpPr/>
          <p:nvPr/>
        </p:nvSpPr>
        <p:spPr>
          <a:xfrm>
            <a:off x="8686800" y="3401568"/>
            <a:ext cx="2743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Language &amp; Generation</a:t>
            </a:r>
            <a:endParaRPr lang="en-US" sz="1300" dirty="0"/>
          </a:p>
        </p:txBody>
      </p:sp>
      <p:sp>
        <p:nvSpPr>
          <p:cNvPr id="32" name="Shape 30"/>
          <p:cNvSpPr/>
          <p:nvPr/>
        </p:nvSpPr>
        <p:spPr>
          <a:xfrm>
            <a:off x="8183880" y="4069080"/>
            <a:ext cx="384048" cy="384048"/>
          </a:xfrm>
          <a:prstGeom prst="ellipse">
            <a:avLst/>
          </a:prstGeom>
          <a:solidFill>
            <a:srgbClr val="E8A33D"/>
          </a:solidFill>
          <a:ln/>
        </p:spPr>
        <p:txBody>
          <a:bodyPr/>
          <a:lstStyle/>
          <a:p>
            <a:endParaRPr lang="th-TH"/>
          </a:p>
        </p:txBody>
      </p:sp>
      <p:sp>
        <p:nvSpPr>
          <p:cNvPr id="33" name="Text 31"/>
          <p:cNvSpPr/>
          <p:nvPr/>
        </p:nvSpPr>
        <p:spPr>
          <a:xfrm>
            <a:off x="8183880" y="4069080"/>
            <a:ext cx="384048" cy="384048"/>
          </a:xfrm>
          <a:prstGeom prst="rect">
            <a:avLst/>
          </a:prstGeom>
          <a:noFill/>
          <a:ln/>
        </p:spPr>
        <p:txBody>
          <a:bodyPr wrap="square" rtlCol="0" anchor="ctr"/>
          <a:lstStyle/>
          <a:p>
            <a:pPr marL="0" indent="0" algn="ctr">
              <a:buNone/>
            </a:pPr>
            <a:r>
              <a:rPr lang="en-US" sz="1300" b="1" dirty="0">
                <a:solidFill>
                  <a:srgbClr val="081A33"/>
                </a:solidFill>
                <a:latin typeface="Calibri" pitchFamily="34" charset="0"/>
                <a:ea typeface="Calibri" pitchFamily="34" charset="-122"/>
                <a:cs typeface="Calibri" pitchFamily="34" charset="-120"/>
              </a:rPr>
              <a:t>C</a:t>
            </a:r>
            <a:endParaRPr lang="en-US" sz="1300" dirty="0"/>
          </a:p>
        </p:txBody>
      </p:sp>
      <p:sp>
        <p:nvSpPr>
          <p:cNvPr id="34" name="Text 32"/>
          <p:cNvSpPr/>
          <p:nvPr/>
        </p:nvSpPr>
        <p:spPr>
          <a:xfrm>
            <a:off x="8686800" y="4087368"/>
            <a:ext cx="2743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Multilingual Intelligence</a:t>
            </a:r>
            <a:endParaRPr lang="en-US" sz="1300" dirty="0"/>
          </a:p>
        </p:txBody>
      </p:sp>
      <p:sp>
        <p:nvSpPr>
          <p:cNvPr id="35" name="Shape 33"/>
          <p:cNvSpPr/>
          <p:nvPr/>
        </p:nvSpPr>
        <p:spPr>
          <a:xfrm>
            <a:off x="8183880" y="4754880"/>
            <a:ext cx="384048" cy="384048"/>
          </a:xfrm>
          <a:prstGeom prst="ellipse">
            <a:avLst/>
          </a:prstGeom>
          <a:solidFill>
            <a:srgbClr val="E8A33D"/>
          </a:solidFill>
          <a:ln/>
        </p:spPr>
        <p:txBody>
          <a:bodyPr/>
          <a:lstStyle/>
          <a:p>
            <a:endParaRPr lang="th-TH"/>
          </a:p>
        </p:txBody>
      </p:sp>
      <p:sp>
        <p:nvSpPr>
          <p:cNvPr id="36" name="Text 34"/>
          <p:cNvSpPr/>
          <p:nvPr/>
        </p:nvSpPr>
        <p:spPr>
          <a:xfrm>
            <a:off x="8183880" y="4754880"/>
            <a:ext cx="384048" cy="384048"/>
          </a:xfrm>
          <a:prstGeom prst="rect">
            <a:avLst/>
          </a:prstGeom>
          <a:noFill/>
          <a:ln/>
        </p:spPr>
        <p:txBody>
          <a:bodyPr wrap="square" rtlCol="0" anchor="ctr"/>
          <a:lstStyle/>
          <a:p>
            <a:pPr marL="0" indent="0" algn="ctr">
              <a:buNone/>
            </a:pPr>
            <a:r>
              <a:rPr lang="en-US" sz="1300" b="1" dirty="0">
                <a:solidFill>
                  <a:srgbClr val="081A33"/>
                </a:solidFill>
                <a:latin typeface="Calibri" pitchFamily="34" charset="0"/>
                <a:ea typeface="Calibri" pitchFamily="34" charset="-122"/>
                <a:cs typeface="Calibri" pitchFamily="34" charset="-120"/>
              </a:rPr>
              <a:t>D</a:t>
            </a:r>
            <a:endParaRPr lang="en-US" sz="1300" dirty="0"/>
          </a:p>
        </p:txBody>
      </p:sp>
      <p:sp>
        <p:nvSpPr>
          <p:cNvPr id="37" name="Text 35"/>
          <p:cNvSpPr/>
          <p:nvPr/>
        </p:nvSpPr>
        <p:spPr>
          <a:xfrm>
            <a:off x="8686800" y="4773168"/>
            <a:ext cx="2743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Conversational Interface</a:t>
            </a:r>
            <a:endParaRPr lang="en-US" sz="1300" dirty="0"/>
          </a:p>
        </p:txBody>
      </p:sp>
      <p:sp>
        <p:nvSpPr>
          <p:cNvPr id="38" name="Text 3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685800"/>
            <a:ext cx="7772400" cy="1188720"/>
          </a:xfrm>
          <a:prstGeom prst="rect">
            <a:avLst/>
          </a:prstGeom>
          <a:noFill/>
          <a:ln/>
        </p:spPr>
        <p:txBody>
          <a:bodyPr wrap="square" rtlCol="0" anchor="ctr"/>
          <a:lstStyle/>
          <a:p>
            <a:pPr marL="0" indent="0">
              <a:lnSpc>
                <a:spcPts val="3300"/>
              </a:lnSpc>
              <a:buNone/>
            </a:pPr>
            <a:r>
              <a:rPr lang="en-US" sz="3000" b="1" dirty="0">
                <a:solidFill>
                  <a:srgbClr val="0B2545"/>
                </a:solidFill>
                <a:latin typeface="Cambria" pitchFamily="34" charset="0"/>
                <a:ea typeface="Cambria" pitchFamily="34" charset="-122"/>
                <a:cs typeface="Cambria" pitchFamily="34" charset="-120"/>
              </a:rPr>
              <a:t>News Moves Fast.</a:t>
            </a:r>
            <a:endParaRPr lang="en-US" sz="3000" dirty="0"/>
          </a:p>
          <a:p>
            <a:pPr marL="0" indent="0">
              <a:lnSpc>
                <a:spcPts val="3300"/>
              </a:lnSpc>
              <a:buNone/>
            </a:pPr>
            <a:r>
              <a:rPr lang="en-US" sz="3000" b="1" dirty="0">
                <a:solidFill>
                  <a:srgbClr val="0B2545"/>
                </a:solidFill>
                <a:latin typeface="Cambria" pitchFamily="34" charset="0"/>
                <a:ea typeface="Cambria" pitchFamily="34" charset="-122"/>
                <a:cs typeface="Cambria" pitchFamily="34" charset="-120"/>
              </a:rPr>
              <a:t>Understanding It Shouldn't Be Slow.</a:t>
            </a:r>
            <a:endParaRPr lang="en-US" sz="3000" dirty="0"/>
          </a:p>
        </p:txBody>
      </p:sp>
      <p:sp>
        <p:nvSpPr>
          <p:cNvPr id="4" name="Text 2"/>
          <p:cNvSpPr/>
          <p:nvPr/>
        </p:nvSpPr>
        <p:spPr>
          <a:xfrm>
            <a:off x="548640" y="1874520"/>
            <a:ext cx="6949440" cy="914400"/>
          </a:xfrm>
          <a:prstGeom prst="rect">
            <a:avLst/>
          </a:prstGeom>
          <a:noFill/>
          <a:ln/>
        </p:spPr>
        <p:txBody>
          <a:bodyPr wrap="square" rtlCol="0" anchor="ctr"/>
          <a:lstStyle/>
          <a:p>
            <a:pPr marL="0" indent="0">
              <a:lnSpc>
                <a:spcPts val="2000"/>
              </a:lnSpc>
              <a:buNone/>
            </a:pPr>
            <a:r>
              <a:rPr lang="en-US" sz="1400" dirty="0">
                <a:solidFill>
                  <a:srgbClr val="5B6B7C"/>
                </a:solidFill>
                <a:latin typeface="Calibri" pitchFamily="34" charset="0"/>
                <a:ea typeface="Calibri" pitchFamily="34" charset="-122"/>
                <a:cs typeface="Calibri" pitchFamily="34" charset="-120"/>
              </a:rPr>
              <a:t>Newsrooms, analysts, and researchers are flooded with articles across topics, languages, and sources — with no easy way to detect trends, sentiment shifts, or hidden connections at scale.</a:t>
            </a:r>
            <a:endParaRPr lang="en-US" sz="1400" dirty="0"/>
          </a:p>
        </p:txBody>
      </p:sp>
      <p:sp>
        <p:nvSpPr>
          <p:cNvPr id="5" name="Shape 3"/>
          <p:cNvSpPr/>
          <p:nvPr/>
        </p:nvSpPr>
        <p:spPr>
          <a:xfrm>
            <a:off x="548640" y="3017520"/>
            <a:ext cx="2331720" cy="1554480"/>
          </a:xfrm>
          <a:prstGeom prst="roundRect">
            <a:avLst>
              <a:gd name="adj" fmla="val 5882"/>
            </a:avLst>
          </a:prstGeom>
          <a:solidFill>
            <a:srgbClr val="FFFFFF"/>
          </a:solidFill>
          <a:ln w="12700">
            <a:solidFill>
              <a:srgbClr val="CADCFC"/>
            </a:solidFill>
            <a:prstDash val="solid"/>
          </a:ln>
          <a:effectLst>
            <a:outerShdw blurRad="76200" dist="25400" dir="5400000" algn="bl" rotWithShape="0">
              <a:srgbClr val="999999">
                <a:alpha val="25000"/>
              </a:srgbClr>
            </a:outerShdw>
          </a:effectLst>
        </p:spPr>
        <p:txBody>
          <a:bodyPr/>
          <a:lstStyle/>
          <a:p>
            <a:endParaRPr lang="th-TH"/>
          </a:p>
        </p:txBody>
      </p:sp>
      <p:sp>
        <p:nvSpPr>
          <p:cNvPr id="6" name="Text 4"/>
          <p:cNvSpPr/>
          <p:nvPr/>
        </p:nvSpPr>
        <p:spPr>
          <a:xfrm>
            <a:off x="548640" y="3200400"/>
            <a:ext cx="2331720" cy="64008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1M+</a:t>
            </a:r>
            <a:endParaRPr lang="en-US" sz="3000" dirty="0"/>
          </a:p>
        </p:txBody>
      </p:sp>
      <p:sp>
        <p:nvSpPr>
          <p:cNvPr id="7" name="Text 5"/>
          <p:cNvSpPr/>
          <p:nvPr/>
        </p:nvSpPr>
        <p:spPr>
          <a:xfrm>
            <a:off x="685800" y="3886200"/>
            <a:ext cx="2057400" cy="594360"/>
          </a:xfrm>
          <a:prstGeom prst="rect">
            <a:avLst/>
          </a:prstGeom>
          <a:noFill/>
          <a:ln/>
        </p:spPr>
        <p:txBody>
          <a:bodyPr wrap="square" rtlCol="0" anchor="ctr"/>
          <a:lstStyle/>
          <a:p>
            <a:pPr marL="0" indent="0" algn="ctr">
              <a:lnSpc>
                <a:spcPts val="1400"/>
              </a:lnSpc>
              <a:buNone/>
            </a:pPr>
            <a:r>
              <a:rPr lang="en-US" sz="1100" dirty="0">
                <a:solidFill>
                  <a:srgbClr val="5B6B7C"/>
                </a:solidFill>
                <a:latin typeface="Calibri" pitchFamily="34" charset="0"/>
                <a:ea typeface="Calibri" pitchFamily="34" charset="-122"/>
                <a:cs typeface="Calibri" pitchFamily="34" charset="-120"/>
              </a:rPr>
              <a:t>Articles published daily worldwide</a:t>
            </a:r>
            <a:endParaRPr lang="en-US" sz="1100" dirty="0"/>
          </a:p>
        </p:txBody>
      </p:sp>
      <p:sp>
        <p:nvSpPr>
          <p:cNvPr id="8" name="Shape 6"/>
          <p:cNvSpPr/>
          <p:nvPr/>
        </p:nvSpPr>
        <p:spPr>
          <a:xfrm>
            <a:off x="3063240" y="3017520"/>
            <a:ext cx="2331720" cy="1554480"/>
          </a:xfrm>
          <a:prstGeom prst="roundRect">
            <a:avLst>
              <a:gd name="adj" fmla="val 5882"/>
            </a:avLst>
          </a:prstGeom>
          <a:solidFill>
            <a:srgbClr val="FFFFFF"/>
          </a:solidFill>
          <a:ln w="12700">
            <a:solidFill>
              <a:srgbClr val="CADCFC"/>
            </a:solidFill>
            <a:prstDash val="solid"/>
          </a:ln>
          <a:effectLst>
            <a:outerShdw blurRad="76200" dist="25400" dir="5400000" algn="bl" rotWithShape="0">
              <a:srgbClr val="999999">
                <a:alpha val="25000"/>
              </a:srgbClr>
            </a:outerShdw>
          </a:effectLst>
        </p:spPr>
        <p:txBody>
          <a:bodyPr/>
          <a:lstStyle/>
          <a:p>
            <a:endParaRPr lang="th-TH"/>
          </a:p>
        </p:txBody>
      </p:sp>
      <p:sp>
        <p:nvSpPr>
          <p:cNvPr id="9" name="Text 7"/>
          <p:cNvSpPr/>
          <p:nvPr/>
        </p:nvSpPr>
        <p:spPr>
          <a:xfrm>
            <a:off x="3063240" y="3200400"/>
            <a:ext cx="2331720" cy="64008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7+</a:t>
            </a:r>
            <a:endParaRPr lang="en-US" sz="3000" dirty="0"/>
          </a:p>
        </p:txBody>
      </p:sp>
      <p:sp>
        <p:nvSpPr>
          <p:cNvPr id="10" name="Text 8"/>
          <p:cNvSpPr/>
          <p:nvPr/>
        </p:nvSpPr>
        <p:spPr>
          <a:xfrm>
            <a:off x="3200400" y="3886200"/>
            <a:ext cx="2057400" cy="594360"/>
          </a:xfrm>
          <a:prstGeom prst="rect">
            <a:avLst/>
          </a:prstGeom>
          <a:noFill/>
          <a:ln/>
        </p:spPr>
        <p:txBody>
          <a:bodyPr wrap="square" rtlCol="0" anchor="ctr"/>
          <a:lstStyle/>
          <a:p>
            <a:pPr marL="0" indent="0" algn="ctr">
              <a:lnSpc>
                <a:spcPts val="1400"/>
              </a:lnSpc>
              <a:buNone/>
            </a:pPr>
            <a:r>
              <a:rPr lang="en-US" sz="1100" dirty="0">
                <a:solidFill>
                  <a:srgbClr val="5B6B7C"/>
                </a:solidFill>
                <a:latin typeface="Calibri" pitchFamily="34" charset="0"/>
                <a:ea typeface="Calibri" pitchFamily="34" charset="-122"/>
                <a:cs typeface="Calibri" pitchFamily="34" charset="-120"/>
              </a:rPr>
              <a:t>Languages a global newsroom must track</a:t>
            </a:r>
            <a:endParaRPr lang="en-US" sz="1100" dirty="0"/>
          </a:p>
        </p:txBody>
      </p:sp>
      <p:sp>
        <p:nvSpPr>
          <p:cNvPr id="11" name="Shape 9"/>
          <p:cNvSpPr/>
          <p:nvPr/>
        </p:nvSpPr>
        <p:spPr>
          <a:xfrm>
            <a:off x="5577840" y="3017520"/>
            <a:ext cx="2331720" cy="1554480"/>
          </a:xfrm>
          <a:prstGeom prst="roundRect">
            <a:avLst>
              <a:gd name="adj" fmla="val 5882"/>
            </a:avLst>
          </a:prstGeom>
          <a:solidFill>
            <a:srgbClr val="FFFFFF"/>
          </a:solidFill>
          <a:ln w="12700">
            <a:solidFill>
              <a:srgbClr val="CADCFC"/>
            </a:solidFill>
            <a:prstDash val="solid"/>
          </a:ln>
          <a:effectLst>
            <a:outerShdw blurRad="76200" dist="25400" dir="5400000" algn="bl" rotWithShape="0">
              <a:srgbClr val="999999">
                <a:alpha val="25000"/>
              </a:srgbClr>
            </a:outerShdw>
          </a:effectLst>
        </p:spPr>
        <p:txBody>
          <a:bodyPr/>
          <a:lstStyle/>
          <a:p>
            <a:endParaRPr lang="th-TH"/>
          </a:p>
        </p:txBody>
      </p:sp>
      <p:sp>
        <p:nvSpPr>
          <p:cNvPr id="12" name="Text 10"/>
          <p:cNvSpPr/>
          <p:nvPr/>
        </p:nvSpPr>
        <p:spPr>
          <a:xfrm>
            <a:off x="5577840" y="3200400"/>
            <a:ext cx="2331720" cy="64008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Hours</a:t>
            </a:r>
            <a:endParaRPr lang="en-US" sz="3000" dirty="0"/>
          </a:p>
        </p:txBody>
      </p:sp>
      <p:sp>
        <p:nvSpPr>
          <p:cNvPr id="13" name="Text 11"/>
          <p:cNvSpPr/>
          <p:nvPr/>
        </p:nvSpPr>
        <p:spPr>
          <a:xfrm>
            <a:off x="5715000" y="3886200"/>
            <a:ext cx="2057400" cy="594360"/>
          </a:xfrm>
          <a:prstGeom prst="rect">
            <a:avLst/>
          </a:prstGeom>
          <a:noFill/>
          <a:ln/>
        </p:spPr>
        <p:txBody>
          <a:bodyPr wrap="square" rtlCol="0" anchor="ctr"/>
          <a:lstStyle/>
          <a:p>
            <a:pPr marL="0" indent="0" algn="ctr">
              <a:lnSpc>
                <a:spcPts val="1400"/>
              </a:lnSpc>
              <a:buNone/>
            </a:pPr>
            <a:r>
              <a:rPr lang="en-US" sz="1100" dirty="0">
                <a:solidFill>
                  <a:srgbClr val="5B6B7C"/>
                </a:solidFill>
                <a:latin typeface="Calibri" pitchFamily="34" charset="0"/>
                <a:ea typeface="Calibri" pitchFamily="34" charset="-122"/>
                <a:cs typeface="Calibri" pitchFamily="34" charset="-120"/>
              </a:rPr>
              <a:t>Lost to manual reading &amp; tagging</a:t>
            </a:r>
            <a:endParaRPr lang="en-US" sz="1100" dirty="0"/>
          </a:p>
        </p:txBody>
      </p:sp>
      <p:sp>
        <p:nvSpPr>
          <p:cNvPr id="14" name="Text 12"/>
          <p:cNvSpPr/>
          <p:nvPr/>
        </p:nvSpPr>
        <p:spPr>
          <a:xfrm>
            <a:off x="548640" y="4800600"/>
            <a:ext cx="7040880" cy="822960"/>
          </a:xfrm>
          <a:prstGeom prst="rect">
            <a:avLst/>
          </a:prstGeom>
          <a:noFill/>
          <a:ln/>
        </p:spPr>
        <p:txBody>
          <a:bodyPr wrap="square" rtlCol="0" anchor="ctr"/>
          <a:lstStyle/>
          <a:p>
            <a:pPr marL="0" indent="0">
              <a:lnSpc>
                <a:spcPts val="2000"/>
              </a:lnSpc>
              <a:buNone/>
            </a:pPr>
            <a:r>
              <a:rPr lang="en-US" sz="1500" b="1" dirty="0">
                <a:solidFill>
                  <a:srgbClr val="0B2545"/>
                </a:solidFill>
                <a:latin typeface="Calibri" pitchFamily="34" charset="0"/>
                <a:ea typeface="Calibri" pitchFamily="34" charset="-122"/>
                <a:cs typeface="Calibri" pitchFamily="34" charset="-120"/>
              </a:rPr>
              <a:t>NewsBot 2.0 solves this: one system that classifies, summarizes, translates, and converses about the news — automatically.</a:t>
            </a:r>
            <a:endParaRPr lang="en-US" sz="1500" dirty="0"/>
          </a:p>
        </p:txBody>
      </p:sp>
      <p:sp>
        <p:nvSpPr>
          <p:cNvPr id="15" name="Shape 13"/>
          <p:cNvSpPr/>
          <p:nvPr/>
        </p:nvSpPr>
        <p:spPr>
          <a:xfrm>
            <a:off x="8229600" y="914400"/>
            <a:ext cx="3383280" cy="1005840"/>
          </a:xfrm>
          <a:prstGeom prst="roundRect">
            <a:avLst>
              <a:gd name="adj" fmla="val 7273"/>
            </a:avLst>
          </a:prstGeom>
          <a:solidFill>
            <a:srgbClr val="FFFFFF"/>
          </a:solidFill>
          <a:ln w="12700">
            <a:solidFill>
              <a:srgbClr val="CADCFC"/>
            </a:solidFill>
            <a:prstDash val="solid"/>
          </a:ln>
          <a:effectLst>
            <a:outerShdw blurRad="101600" dist="25400" dir="5400000" algn="bl" rotWithShape="0">
              <a:srgbClr val="999999">
                <a:alpha val="30000"/>
              </a:srgbClr>
            </a:outerShdw>
          </a:effectLst>
        </p:spPr>
        <p:txBody>
          <a:bodyPr/>
          <a:lstStyle/>
          <a:p>
            <a:endParaRPr lang="th-TH"/>
          </a:p>
        </p:txBody>
      </p:sp>
      <p:sp>
        <p:nvSpPr>
          <p:cNvPr id="16" name="Shape 14"/>
          <p:cNvSpPr/>
          <p:nvPr/>
        </p:nvSpPr>
        <p:spPr>
          <a:xfrm>
            <a:off x="8412480" y="1115568"/>
            <a:ext cx="128016" cy="128016"/>
          </a:xfrm>
          <a:prstGeom prst="ellipse">
            <a:avLst/>
          </a:prstGeom>
          <a:solidFill>
            <a:srgbClr val="1C7293"/>
          </a:solidFill>
          <a:ln/>
        </p:spPr>
        <p:txBody>
          <a:bodyPr/>
          <a:lstStyle/>
          <a:p>
            <a:endParaRPr lang="th-TH"/>
          </a:p>
        </p:txBody>
      </p:sp>
      <p:sp>
        <p:nvSpPr>
          <p:cNvPr id="17" name="Text 15"/>
          <p:cNvSpPr/>
          <p:nvPr/>
        </p:nvSpPr>
        <p:spPr>
          <a:xfrm>
            <a:off x="8668512" y="1024128"/>
            <a:ext cx="2788920" cy="502920"/>
          </a:xfrm>
          <a:prstGeom prst="rect">
            <a:avLst/>
          </a:prstGeom>
          <a:noFill/>
          <a:ln/>
        </p:spPr>
        <p:txBody>
          <a:bodyPr wrap="square" rtlCol="0" anchor="ctr"/>
          <a:lstStyle/>
          <a:p>
            <a:pPr marL="0" indent="0">
              <a:lnSpc>
                <a:spcPts val="1400"/>
              </a:lnSpc>
              <a:buNone/>
            </a:pPr>
            <a:r>
              <a:rPr lang="en-US" sz="1200" b="1" dirty="0">
                <a:solidFill>
                  <a:srgbClr val="1B2733"/>
                </a:solidFill>
                <a:latin typeface="Calibri" pitchFamily="34" charset="0"/>
                <a:ea typeface="Calibri" pitchFamily="34" charset="-122"/>
                <a:cs typeface="Calibri" pitchFamily="34" charset="-120"/>
              </a:rPr>
              <a:t>Tech layoffs spark market reaction</a:t>
            </a:r>
            <a:endParaRPr lang="en-US" sz="1200" dirty="0"/>
          </a:p>
        </p:txBody>
      </p:sp>
      <p:sp>
        <p:nvSpPr>
          <p:cNvPr id="18" name="Text 16"/>
          <p:cNvSpPr/>
          <p:nvPr/>
        </p:nvSpPr>
        <p:spPr>
          <a:xfrm>
            <a:off x="8458200" y="1536192"/>
            <a:ext cx="301752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Sentiment: Negative · Business</a:t>
            </a:r>
            <a:endParaRPr lang="en-US" sz="900" dirty="0"/>
          </a:p>
        </p:txBody>
      </p:sp>
      <p:sp>
        <p:nvSpPr>
          <p:cNvPr id="19" name="Shape 17"/>
          <p:cNvSpPr/>
          <p:nvPr/>
        </p:nvSpPr>
        <p:spPr>
          <a:xfrm>
            <a:off x="8229600" y="2148840"/>
            <a:ext cx="3383280" cy="1005840"/>
          </a:xfrm>
          <a:prstGeom prst="roundRect">
            <a:avLst>
              <a:gd name="adj" fmla="val 7273"/>
            </a:avLst>
          </a:prstGeom>
          <a:solidFill>
            <a:srgbClr val="FFFFFF"/>
          </a:solidFill>
          <a:ln w="12700">
            <a:solidFill>
              <a:srgbClr val="CADCFC"/>
            </a:solidFill>
            <a:prstDash val="solid"/>
          </a:ln>
          <a:effectLst>
            <a:outerShdw blurRad="101600" dist="25400" dir="5400000" algn="bl" rotWithShape="0">
              <a:srgbClr val="999999">
                <a:alpha val="30000"/>
              </a:srgbClr>
            </a:outerShdw>
          </a:effectLst>
        </p:spPr>
        <p:txBody>
          <a:bodyPr/>
          <a:lstStyle/>
          <a:p>
            <a:endParaRPr lang="th-TH"/>
          </a:p>
        </p:txBody>
      </p:sp>
      <p:sp>
        <p:nvSpPr>
          <p:cNvPr id="20" name="Shape 18"/>
          <p:cNvSpPr/>
          <p:nvPr/>
        </p:nvSpPr>
        <p:spPr>
          <a:xfrm>
            <a:off x="8412480" y="2350008"/>
            <a:ext cx="128016" cy="128016"/>
          </a:xfrm>
          <a:prstGeom prst="ellipse">
            <a:avLst/>
          </a:prstGeom>
          <a:solidFill>
            <a:srgbClr val="0B2545"/>
          </a:solidFill>
          <a:ln/>
        </p:spPr>
        <p:txBody>
          <a:bodyPr/>
          <a:lstStyle/>
          <a:p>
            <a:endParaRPr lang="th-TH"/>
          </a:p>
        </p:txBody>
      </p:sp>
      <p:sp>
        <p:nvSpPr>
          <p:cNvPr id="21" name="Text 19"/>
          <p:cNvSpPr/>
          <p:nvPr/>
        </p:nvSpPr>
        <p:spPr>
          <a:xfrm>
            <a:off x="8668512" y="2258568"/>
            <a:ext cx="2788920" cy="502920"/>
          </a:xfrm>
          <a:prstGeom prst="rect">
            <a:avLst/>
          </a:prstGeom>
          <a:noFill/>
          <a:ln/>
        </p:spPr>
        <p:txBody>
          <a:bodyPr wrap="square" rtlCol="0" anchor="ctr"/>
          <a:lstStyle/>
          <a:p>
            <a:pPr marL="0" indent="0">
              <a:lnSpc>
                <a:spcPts val="1400"/>
              </a:lnSpc>
              <a:buNone/>
            </a:pPr>
            <a:r>
              <a:rPr lang="en-US" sz="1200" b="1" dirty="0">
                <a:solidFill>
                  <a:srgbClr val="1B2733"/>
                </a:solidFill>
                <a:latin typeface="Calibri" pitchFamily="34" charset="0"/>
                <a:ea typeface="Calibri" pitchFamily="34" charset="-122"/>
                <a:cs typeface="Calibri" pitchFamily="34" charset="-120"/>
              </a:rPr>
              <a:t>Global summit addresses climate policy</a:t>
            </a:r>
            <a:endParaRPr lang="en-US" sz="1200" dirty="0"/>
          </a:p>
        </p:txBody>
      </p:sp>
      <p:sp>
        <p:nvSpPr>
          <p:cNvPr id="22" name="Text 20"/>
          <p:cNvSpPr/>
          <p:nvPr/>
        </p:nvSpPr>
        <p:spPr>
          <a:xfrm>
            <a:off x="8458200" y="2770632"/>
            <a:ext cx="301752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Sentiment: Neutral · Politics</a:t>
            </a:r>
            <a:endParaRPr lang="en-US" sz="900" dirty="0"/>
          </a:p>
        </p:txBody>
      </p:sp>
      <p:sp>
        <p:nvSpPr>
          <p:cNvPr id="23" name="Shape 21"/>
          <p:cNvSpPr/>
          <p:nvPr/>
        </p:nvSpPr>
        <p:spPr>
          <a:xfrm>
            <a:off x="8229600" y="3383280"/>
            <a:ext cx="3383280" cy="1005840"/>
          </a:xfrm>
          <a:prstGeom prst="roundRect">
            <a:avLst>
              <a:gd name="adj" fmla="val 7273"/>
            </a:avLst>
          </a:prstGeom>
          <a:solidFill>
            <a:srgbClr val="FFFFFF"/>
          </a:solidFill>
          <a:ln w="12700">
            <a:solidFill>
              <a:srgbClr val="CADCFC"/>
            </a:solidFill>
            <a:prstDash val="solid"/>
          </a:ln>
          <a:effectLst>
            <a:outerShdw blurRad="101600" dist="25400" dir="5400000" algn="bl" rotWithShape="0">
              <a:srgbClr val="999999">
                <a:alpha val="30000"/>
              </a:srgbClr>
            </a:outerShdw>
          </a:effectLst>
        </p:spPr>
        <p:txBody>
          <a:bodyPr/>
          <a:lstStyle/>
          <a:p>
            <a:endParaRPr lang="th-TH"/>
          </a:p>
        </p:txBody>
      </p:sp>
      <p:sp>
        <p:nvSpPr>
          <p:cNvPr id="24" name="Shape 22"/>
          <p:cNvSpPr/>
          <p:nvPr/>
        </p:nvSpPr>
        <p:spPr>
          <a:xfrm>
            <a:off x="8412480" y="3584448"/>
            <a:ext cx="128016" cy="128016"/>
          </a:xfrm>
          <a:prstGeom prst="ellipse">
            <a:avLst/>
          </a:prstGeom>
          <a:solidFill>
            <a:srgbClr val="E8A33D"/>
          </a:solidFill>
          <a:ln/>
        </p:spPr>
        <p:txBody>
          <a:bodyPr/>
          <a:lstStyle/>
          <a:p>
            <a:endParaRPr lang="th-TH"/>
          </a:p>
        </p:txBody>
      </p:sp>
      <p:sp>
        <p:nvSpPr>
          <p:cNvPr id="25" name="Text 23"/>
          <p:cNvSpPr/>
          <p:nvPr/>
        </p:nvSpPr>
        <p:spPr>
          <a:xfrm>
            <a:off x="8668512" y="3493008"/>
            <a:ext cx="2788920" cy="502920"/>
          </a:xfrm>
          <a:prstGeom prst="rect">
            <a:avLst/>
          </a:prstGeom>
          <a:noFill/>
          <a:ln/>
        </p:spPr>
        <p:txBody>
          <a:bodyPr wrap="square" rtlCol="0" anchor="ctr"/>
          <a:lstStyle/>
          <a:p>
            <a:pPr marL="0" indent="0">
              <a:lnSpc>
                <a:spcPts val="1400"/>
              </a:lnSpc>
              <a:buNone/>
            </a:pPr>
            <a:r>
              <a:rPr lang="en-US" sz="1200" b="1" dirty="0">
                <a:solidFill>
                  <a:srgbClr val="1B2733"/>
                </a:solidFill>
                <a:latin typeface="Calibri" pitchFamily="34" charset="0"/>
                <a:ea typeface="Calibri" pitchFamily="34" charset="-122"/>
                <a:cs typeface="Calibri" pitchFamily="34" charset="-120"/>
              </a:rPr>
              <a:t>Local election results announced</a:t>
            </a:r>
            <a:endParaRPr lang="en-US" sz="1200" dirty="0"/>
          </a:p>
        </p:txBody>
      </p:sp>
      <p:sp>
        <p:nvSpPr>
          <p:cNvPr id="26" name="Text 24"/>
          <p:cNvSpPr/>
          <p:nvPr/>
        </p:nvSpPr>
        <p:spPr>
          <a:xfrm>
            <a:off x="8458200" y="4005072"/>
            <a:ext cx="301752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Sentiment: Positive · Local</a:t>
            </a:r>
            <a:endParaRPr lang="en-US" sz="900" dirty="0"/>
          </a:p>
        </p:txBody>
      </p:sp>
      <p:sp>
        <p:nvSpPr>
          <p:cNvPr id="27" name="Text 2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40080"/>
            <a:ext cx="9144000" cy="1097280"/>
          </a:xfrm>
          <a:prstGeom prst="rect">
            <a:avLst/>
          </a:prstGeom>
          <a:noFill/>
          <a:ln/>
        </p:spPr>
        <p:txBody>
          <a:bodyPr wrap="square" rtlCol="0" anchor="ctr"/>
          <a:lstStyle/>
          <a:p>
            <a:pPr marL="0" indent="0">
              <a:lnSpc>
                <a:spcPts val="3300"/>
              </a:lnSpc>
              <a:buNone/>
            </a:pPr>
            <a:r>
              <a:rPr lang="en-US" sz="3000" b="1" dirty="0">
                <a:solidFill>
                  <a:srgbClr val="FFFFFF"/>
                </a:solidFill>
                <a:latin typeface="Cambria" pitchFamily="34" charset="0"/>
                <a:ea typeface="Cambria" pitchFamily="34" charset="-122"/>
                <a:cs typeface="Cambria" pitchFamily="34" charset="-120"/>
              </a:rPr>
              <a:t>Four Integrated Modules,</a:t>
            </a:r>
            <a:endParaRPr lang="en-US" sz="3000" dirty="0"/>
          </a:p>
          <a:p>
            <a:pPr marL="0" indent="0">
              <a:lnSpc>
                <a:spcPts val="3300"/>
              </a:lnSpc>
              <a:buNone/>
            </a:pPr>
            <a:r>
              <a:rPr lang="en-US" sz="3000" b="1" dirty="0">
                <a:solidFill>
                  <a:srgbClr val="FFFFFF"/>
                </a:solidFill>
                <a:latin typeface="Cambria" pitchFamily="34" charset="0"/>
                <a:ea typeface="Cambria" pitchFamily="34" charset="-122"/>
                <a:cs typeface="Cambria" pitchFamily="34" charset="-120"/>
              </a:rPr>
              <a:t>One Intelligence Platform</a:t>
            </a:r>
            <a:endParaRPr lang="en-US" sz="3000" dirty="0"/>
          </a:p>
        </p:txBody>
      </p:sp>
      <p:sp>
        <p:nvSpPr>
          <p:cNvPr id="4" name="Shape 2"/>
          <p:cNvSpPr/>
          <p:nvPr/>
        </p:nvSpPr>
        <p:spPr>
          <a:xfrm>
            <a:off x="548640" y="2011680"/>
            <a:ext cx="5349240" cy="2103120"/>
          </a:xfrm>
          <a:prstGeom prst="roundRect">
            <a:avLst>
              <a:gd name="adj" fmla="val 4348"/>
            </a:avLst>
          </a:prstGeom>
          <a:solidFill>
            <a:srgbClr val="081A33"/>
          </a:solidFill>
          <a:ln w="12700">
            <a:solidFill>
              <a:srgbClr val="1C7293"/>
            </a:solidFill>
            <a:prstDash val="solid"/>
          </a:ln>
        </p:spPr>
        <p:txBody>
          <a:bodyPr/>
          <a:lstStyle/>
          <a:p>
            <a:endParaRPr lang="th-TH"/>
          </a:p>
        </p:txBody>
      </p:sp>
      <p:sp>
        <p:nvSpPr>
          <p:cNvPr id="5" name="Shape 3"/>
          <p:cNvSpPr/>
          <p:nvPr/>
        </p:nvSpPr>
        <p:spPr>
          <a:xfrm>
            <a:off x="822960" y="2286000"/>
            <a:ext cx="548640" cy="548640"/>
          </a:xfrm>
          <a:prstGeom prst="ellipse">
            <a:avLst/>
          </a:prstGeom>
          <a:solidFill>
            <a:srgbClr val="1C7293"/>
          </a:solidFill>
          <a:ln/>
        </p:spPr>
        <p:txBody>
          <a:bodyPr/>
          <a:lstStyle/>
          <a:p>
            <a:endParaRPr lang="th-TH"/>
          </a:p>
        </p:txBody>
      </p:sp>
      <p:sp>
        <p:nvSpPr>
          <p:cNvPr id="6" name="Text 4"/>
          <p:cNvSpPr/>
          <p:nvPr/>
        </p:nvSpPr>
        <p:spPr>
          <a:xfrm>
            <a:off x="822960" y="2286000"/>
            <a:ext cx="548640" cy="548640"/>
          </a:xfrm>
          <a:prstGeom prst="rect">
            <a:avLst/>
          </a:prstGeom>
          <a:noFill/>
          <a:ln/>
        </p:spPr>
        <p:txBody>
          <a:bodyPr wrap="square" rtlCol="0" anchor="ctr"/>
          <a:lstStyle/>
          <a:p>
            <a:pPr marL="0" indent="0" algn="ctr">
              <a:buNone/>
            </a:pPr>
            <a:r>
              <a:rPr lang="en-US" sz="2000" b="1" dirty="0">
                <a:solidFill>
                  <a:srgbClr val="081A33"/>
                </a:solidFill>
                <a:latin typeface="Cambria" pitchFamily="34" charset="0"/>
                <a:ea typeface="Cambria" pitchFamily="34" charset="-122"/>
                <a:cs typeface="Cambria" pitchFamily="34" charset="-120"/>
              </a:rPr>
              <a:t>A</a:t>
            </a:r>
            <a:endParaRPr lang="en-US" sz="2000" dirty="0"/>
          </a:p>
        </p:txBody>
      </p:sp>
      <p:sp>
        <p:nvSpPr>
          <p:cNvPr id="7" name="Text 5"/>
          <p:cNvSpPr/>
          <p:nvPr/>
        </p:nvSpPr>
        <p:spPr>
          <a:xfrm>
            <a:off x="1554480" y="2267712"/>
            <a:ext cx="4069080" cy="594360"/>
          </a:xfrm>
          <a:prstGeom prst="rect">
            <a:avLst/>
          </a:prstGeom>
          <a:noFill/>
          <a:ln/>
        </p:spPr>
        <p:txBody>
          <a:bodyPr wrap="square"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Content Analysis Engine</a:t>
            </a:r>
            <a:endParaRPr lang="en-US" sz="1600" dirty="0"/>
          </a:p>
        </p:txBody>
      </p:sp>
      <p:sp>
        <p:nvSpPr>
          <p:cNvPr id="8" name="Text 6"/>
          <p:cNvSpPr/>
          <p:nvPr/>
        </p:nvSpPr>
        <p:spPr>
          <a:xfrm>
            <a:off x="822960" y="3063240"/>
            <a:ext cx="4800600" cy="86868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Classification · Topic Modeling · Sentiment · Entity Mapping</a:t>
            </a:r>
            <a:endParaRPr lang="en-US" sz="1200" dirty="0"/>
          </a:p>
        </p:txBody>
      </p:sp>
      <p:sp>
        <p:nvSpPr>
          <p:cNvPr id="9" name="Shape 7"/>
          <p:cNvSpPr/>
          <p:nvPr/>
        </p:nvSpPr>
        <p:spPr>
          <a:xfrm>
            <a:off x="6217920" y="2011680"/>
            <a:ext cx="5349240" cy="2103120"/>
          </a:xfrm>
          <a:prstGeom prst="roundRect">
            <a:avLst>
              <a:gd name="adj" fmla="val 4348"/>
            </a:avLst>
          </a:prstGeom>
          <a:solidFill>
            <a:srgbClr val="081A33"/>
          </a:solidFill>
          <a:ln w="12700">
            <a:solidFill>
              <a:srgbClr val="E8A33D"/>
            </a:solidFill>
            <a:prstDash val="solid"/>
          </a:ln>
        </p:spPr>
        <p:txBody>
          <a:bodyPr/>
          <a:lstStyle/>
          <a:p>
            <a:endParaRPr lang="th-TH"/>
          </a:p>
        </p:txBody>
      </p:sp>
      <p:sp>
        <p:nvSpPr>
          <p:cNvPr id="10" name="Shape 8"/>
          <p:cNvSpPr/>
          <p:nvPr/>
        </p:nvSpPr>
        <p:spPr>
          <a:xfrm>
            <a:off x="6492240" y="2286000"/>
            <a:ext cx="548640" cy="548640"/>
          </a:xfrm>
          <a:prstGeom prst="ellipse">
            <a:avLst/>
          </a:prstGeom>
          <a:solidFill>
            <a:srgbClr val="E8A33D"/>
          </a:solidFill>
          <a:ln/>
        </p:spPr>
        <p:txBody>
          <a:bodyPr/>
          <a:lstStyle/>
          <a:p>
            <a:endParaRPr lang="th-TH"/>
          </a:p>
        </p:txBody>
      </p:sp>
      <p:sp>
        <p:nvSpPr>
          <p:cNvPr id="11" name="Text 9"/>
          <p:cNvSpPr/>
          <p:nvPr/>
        </p:nvSpPr>
        <p:spPr>
          <a:xfrm>
            <a:off x="6492240" y="2286000"/>
            <a:ext cx="548640" cy="548640"/>
          </a:xfrm>
          <a:prstGeom prst="rect">
            <a:avLst/>
          </a:prstGeom>
          <a:noFill/>
          <a:ln/>
        </p:spPr>
        <p:txBody>
          <a:bodyPr wrap="square" rtlCol="0" anchor="ctr"/>
          <a:lstStyle/>
          <a:p>
            <a:pPr marL="0" indent="0" algn="ctr">
              <a:buNone/>
            </a:pPr>
            <a:r>
              <a:rPr lang="en-US" sz="2000" b="1" dirty="0">
                <a:solidFill>
                  <a:srgbClr val="081A33"/>
                </a:solidFill>
                <a:latin typeface="Cambria" pitchFamily="34" charset="0"/>
                <a:ea typeface="Cambria" pitchFamily="34" charset="-122"/>
                <a:cs typeface="Cambria" pitchFamily="34" charset="-120"/>
              </a:rPr>
              <a:t>B</a:t>
            </a:r>
            <a:endParaRPr lang="en-US" sz="2000" dirty="0"/>
          </a:p>
        </p:txBody>
      </p:sp>
      <p:sp>
        <p:nvSpPr>
          <p:cNvPr id="12" name="Text 10"/>
          <p:cNvSpPr/>
          <p:nvPr/>
        </p:nvSpPr>
        <p:spPr>
          <a:xfrm>
            <a:off x="7223760" y="2267712"/>
            <a:ext cx="4069080" cy="594360"/>
          </a:xfrm>
          <a:prstGeom prst="rect">
            <a:avLst/>
          </a:prstGeom>
          <a:noFill/>
          <a:ln/>
        </p:spPr>
        <p:txBody>
          <a:bodyPr wrap="square"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Language Understanding &amp; Generation</a:t>
            </a:r>
            <a:endParaRPr lang="en-US" sz="1600" dirty="0"/>
          </a:p>
        </p:txBody>
      </p:sp>
      <p:sp>
        <p:nvSpPr>
          <p:cNvPr id="13" name="Text 11"/>
          <p:cNvSpPr/>
          <p:nvPr/>
        </p:nvSpPr>
        <p:spPr>
          <a:xfrm>
            <a:off x="6492240" y="3063240"/>
            <a:ext cx="4800600" cy="86868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Summarization · Semantic Search · Content Enhancement</a:t>
            </a:r>
            <a:endParaRPr lang="en-US" sz="1200" dirty="0"/>
          </a:p>
        </p:txBody>
      </p:sp>
      <p:sp>
        <p:nvSpPr>
          <p:cNvPr id="14" name="Shape 12"/>
          <p:cNvSpPr/>
          <p:nvPr/>
        </p:nvSpPr>
        <p:spPr>
          <a:xfrm>
            <a:off x="548640" y="4434840"/>
            <a:ext cx="5349240" cy="2103120"/>
          </a:xfrm>
          <a:prstGeom prst="roundRect">
            <a:avLst>
              <a:gd name="adj" fmla="val 4348"/>
            </a:avLst>
          </a:prstGeom>
          <a:solidFill>
            <a:srgbClr val="081A33"/>
          </a:solidFill>
          <a:ln w="12700">
            <a:solidFill>
              <a:srgbClr val="1C7293"/>
            </a:solidFill>
            <a:prstDash val="solid"/>
          </a:ln>
        </p:spPr>
        <p:txBody>
          <a:bodyPr/>
          <a:lstStyle/>
          <a:p>
            <a:endParaRPr lang="th-TH"/>
          </a:p>
        </p:txBody>
      </p:sp>
      <p:sp>
        <p:nvSpPr>
          <p:cNvPr id="15" name="Shape 13"/>
          <p:cNvSpPr/>
          <p:nvPr/>
        </p:nvSpPr>
        <p:spPr>
          <a:xfrm>
            <a:off x="822960" y="4709160"/>
            <a:ext cx="548640" cy="548640"/>
          </a:xfrm>
          <a:prstGeom prst="ellipse">
            <a:avLst/>
          </a:prstGeom>
          <a:solidFill>
            <a:srgbClr val="1C7293"/>
          </a:solidFill>
          <a:ln/>
        </p:spPr>
        <p:txBody>
          <a:bodyPr/>
          <a:lstStyle/>
          <a:p>
            <a:endParaRPr lang="th-TH"/>
          </a:p>
        </p:txBody>
      </p:sp>
      <p:sp>
        <p:nvSpPr>
          <p:cNvPr id="16" name="Text 14"/>
          <p:cNvSpPr/>
          <p:nvPr/>
        </p:nvSpPr>
        <p:spPr>
          <a:xfrm>
            <a:off x="822960" y="4709160"/>
            <a:ext cx="548640" cy="548640"/>
          </a:xfrm>
          <a:prstGeom prst="rect">
            <a:avLst/>
          </a:prstGeom>
          <a:noFill/>
          <a:ln/>
        </p:spPr>
        <p:txBody>
          <a:bodyPr wrap="square" rtlCol="0" anchor="ctr"/>
          <a:lstStyle/>
          <a:p>
            <a:pPr marL="0" indent="0" algn="ctr">
              <a:buNone/>
            </a:pPr>
            <a:r>
              <a:rPr lang="en-US" sz="2000" b="1" dirty="0">
                <a:solidFill>
                  <a:srgbClr val="081A33"/>
                </a:solidFill>
                <a:latin typeface="Cambria" pitchFamily="34" charset="0"/>
                <a:ea typeface="Cambria" pitchFamily="34" charset="-122"/>
                <a:cs typeface="Cambria" pitchFamily="34" charset="-120"/>
              </a:rPr>
              <a:t>C</a:t>
            </a:r>
            <a:endParaRPr lang="en-US" sz="2000" dirty="0"/>
          </a:p>
        </p:txBody>
      </p:sp>
      <p:sp>
        <p:nvSpPr>
          <p:cNvPr id="17" name="Text 15"/>
          <p:cNvSpPr/>
          <p:nvPr/>
        </p:nvSpPr>
        <p:spPr>
          <a:xfrm>
            <a:off x="1554480" y="4690872"/>
            <a:ext cx="4069080" cy="594360"/>
          </a:xfrm>
          <a:prstGeom prst="rect">
            <a:avLst/>
          </a:prstGeom>
          <a:noFill/>
          <a:ln/>
        </p:spPr>
        <p:txBody>
          <a:bodyPr wrap="square"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Multilingual Intelligence</a:t>
            </a:r>
            <a:endParaRPr lang="en-US" sz="1600" dirty="0"/>
          </a:p>
        </p:txBody>
      </p:sp>
      <p:sp>
        <p:nvSpPr>
          <p:cNvPr id="18" name="Text 16"/>
          <p:cNvSpPr/>
          <p:nvPr/>
        </p:nvSpPr>
        <p:spPr>
          <a:xfrm>
            <a:off x="822960" y="5486400"/>
            <a:ext cx="4800600" cy="86868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Language Detection · Translation · Cross-Lingual Comparison</a:t>
            </a:r>
            <a:endParaRPr lang="en-US" sz="1200" dirty="0"/>
          </a:p>
        </p:txBody>
      </p:sp>
      <p:sp>
        <p:nvSpPr>
          <p:cNvPr id="19" name="Shape 17"/>
          <p:cNvSpPr/>
          <p:nvPr/>
        </p:nvSpPr>
        <p:spPr>
          <a:xfrm>
            <a:off x="6217920" y="4434840"/>
            <a:ext cx="5349240" cy="2103120"/>
          </a:xfrm>
          <a:prstGeom prst="roundRect">
            <a:avLst>
              <a:gd name="adj" fmla="val 4348"/>
            </a:avLst>
          </a:prstGeom>
          <a:solidFill>
            <a:srgbClr val="081A33"/>
          </a:solidFill>
          <a:ln w="12700">
            <a:solidFill>
              <a:srgbClr val="E8A33D"/>
            </a:solidFill>
            <a:prstDash val="solid"/>
          </a:ln>
        </p:spPr>
        <p:txBody>
          <a:bodyPr/>
          <a:lstStyle/>
          <a:p>
            <a:endParaRPr lang="th-TH"/>
          </a:p>
        </p:txBody>
      </p:sp>
      <p:sp>
        <p:nvSpPr>
          <p:cNvPr id="20" name="Shape 18"/>
          <p:cNvSpPr/>
          <p:nvPr/>
        </p:nvSpPr>
        <p:spPr>
          <a:xfrm>
            <a:off x="6492240" y="4709160"/>
            <a:ext cx="548640" cy="548640"/>
          </a:xfrm>
          <a:prstGeom prst="ellipse">
            <a:avLst/>
          </a:prstGeom>
          <a:solidFill>
            <a:srgbClr val="E8A33D"/>
          </a:solidFill>
          <a:ln/>
        </p:spPr>
        <p:txBody>
          <a:bodyPr/>
          <a:lstStyle/>
          <a:p>
            <a:endParaRPr lang="th-TH"/>
          </a:p>
        </p:txBody>
      </p:sp>
      <p:sp>
        <p:nvSpPr>
          <p:cNvPr id="21" name="Text 19"/>
          <p:cNvSpPr/>
          <p:nvPr/>
        </p:nvSpPr>
        <p:spPr>
          <a:xfrm>
            <a:off x="6492240" y="4709160"/>
            <a:ext cx="548640" cy="548640"/>
          </a:xfrm>
          <a:prstGeom prst="rect">
            <a:avLst/>
          </a:prstGeom>
          <a:noFill/>
          <a:ln/>
        </p:spPr>
        <p:txBody>
          <a:bodyPr wrap="square" rtlCol="0" anchor="ctr"/>
          <a:lstStyle/>
          <a:p>
            <a:pPr marL="0" indent="0" algn="ctr">
              <a:buNone/>
            </a:pPr>
            <a:r>
              <a:rPr lang="en-US" sz="2000" b="1" dirty="0">
                <a:solidFill>
                  <a:srgbClr val="081A33"/>
                </a:solidFill>
                <a:latin typeface="Cambria" pitchFamily="34" charset="0"/>
                <a:ea typeface="Cambria" pitchFamily="34" charset="-122"/>
                <a:cs typeface="Cambria" pitchFamily="34" charset="-120"/>
              </a:rPr>
              <a:t>D</a:t>
            </a:r>
            <a:endParaRPr lang="en-US" sz="2000" dirty="0"/>
          </a:p>
        </p:txBody>
      </p:sp>
      <p:sp>
        <p:nvSpPr>
          <p:cNvPr id="22" name="Text 20"/>
          <p:cNvSpPr/>
          <p:nvPr/>
        </p:nvSpPr>
        <p:spPr>
          <a:xfrm>
            <a:off x="7223760" y="4690872"/>
            <a:ext cx="4069080" cy="594360"/>
          </a:xfrm>
          <a:prstGeom prst="rect">
            <a:avLst/>
          </a:prstGeom>
          <a:noFill/>
          <a:ln/>
        </p:spPr>
        <p:txBody>
          <a:bodyPr wrap="square" rtlCol="0" anchor="ctr"/>
          <a:lstStyle/>
          <a:p>
            <a:pPr marL="0" indent="0">
              <a:lnSpc>
                <a:spcPts val="1800"/>
              </a:lnSpc>
              <a:buNone/>
            </a:pPr>
            <a:r>
              <a:rPr lang="en-US" sz="1600" b="1" dirty="0">
                <a:solidFill>
                  <a:srgbClr val="FFFFFF"/>
                </a:solidFill>
                <a:latin typeface="Calibri" pitchFamily="34" charset="0"/>
                <a:ea typeface="Calibri" pitchFamily="34" charset="-122"/>
                <a:cs typeface="Calibri" pitchFamily="34" charset="-120"/>
              </a:rPr>
              <a:t>Conversational Interface</a:t>
            </a:r>
            <a:endParaRPr lang="en-US" sz="1600" dirty="0"/>
          </a:p>
        </p:txBody>
      </p:sp>
      <p:sp>
        <p:nvSpPr>
          <p:cNvPr id="23" name="Text 21"/>
          <p:cNvSpPr/>
          <p:nvPr/>
        </p:nvSpPr>
        <p:spPr>
          <a:xfrm>
            <a:off x="6492240" y="5486400"/>
            <a:ext cx="4800600" cy="86868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Intent Classification · Query Processing · Response Generation</a:t>
            </a:r>
            <a:endParaRPr lang="en-US" sz="1200" dirty="0"/>
          </a:p>
        </p:txBody>
      </p:sp>
      <p:sp>
        <p:nvSpPr>
          <p:cNvPr id="24" name="Text 2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MODULE A · CONTENT ANALYSIS</a:t>
            </a:r>
            <a:endParaRPr lang="en-US" sz="1200" dirty="0"/>
          </a:p>
        </p:txBody>
      </p:sp>
      <p:sp>
        <p:nvSpPr>
          <p:cNvPr id="3" name="Text 1"/>
          <p:cNvSpPr/>
          <p:nvPr/>
        </p:nvSpPr>
        <p:spPr>
          <a:xfrm>
            <a:off x="548640" y="685800"/>
            <a:ext cx="96012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Classifying Content &amp; Discovering Topics</a:t>
            </a:r>
            <a:endParaRPr lang="en-US" sz="2800" dirty="0"/>
          </a:p>
        </p:txBody>
      </p:sp>
      <p:sp>
        <p:nvSpPr>
          <p:cNvPr id="4" name="Shape 2"/>
          <p:cNvSpPr/>
          <p:nvPr/>
        </p:nvSpPr>
        <p:spPr>
          <a:xfrm>
            <a:off x="548640" y="1600200"/>
            <a:ext cx="5303520" cy="4480560"/>
          </a:xfrm>
          <a:prstGeom prst="roundRect">
            <a:avLst>
              <a:gd name="adj" fmla="val 2041"/>
            </a:avLst>
          </a:prstGeom>
          <a:solidFill>
            <a:srgbClr val="F4F7FA"/>
          </a:solidFill>
          <a:ln/>
        </p:spPr>
        <p:txBody>
          <a:bodyPr/>
          <a:lstStyle/>
          <a:p>
            <a:endParaRPr lang="th-TH"/>
          </a:p>
        </p:txBody>
      </p:sp>
      <p:sp>
        <p:nvSpPr>
          <p:cNvPr id="5" name="Text 3"/>
          <p:cNvSpPr/>
          <p:nvPr/>
        </p:nvSpPr>
        <p:spPr>
          <a:xfrm>
            <a:off x="822960" y="1810512"/>
            <a:ext cx="475488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Advanced Classification</a:t>
            </a:r>
            <a:endParaRPr lang="en-US" sz="1600" dirty="0"/>
          </a:p>
        </p:txBody>
      </p:sp>
      <p:sp>
        <p:nvSpPr>
          <p:cNvPr id="6" name="Text 4"/>
          <p:cNvSpPr/>
          <p:nvPr/>
        </p:nvSpPr>
        <p:spPr>
          <a:xfrm>
            <a:off x="822960" y="2194560"/>
            <a:ext cx="4754880" cy="640080"/>
          </a:xfrm>
          <a:prstGeom prst="rect">
            <a:avLst/>
          </a:prstGeom>
          <a:noFill/>
          <a:ln/>
        </p:spPr>
        <p:txBody>
          <a:bodyPr wrap="square" rtlCol="0" anchor="ctr"/>
          <a:lstStyle/>
          <a:p>
            <a:pPr marL="0" indent="0">
              <a:lnSpc>
                <a:spcPts val="1600"/>
              </a:lnSpc>
              <a:buNone/>
            </a:pPr>
            <a:r>
              <a:rPr lang="en-US" sz="1200" dirty="0">
                <a:solidFill>
                  <a:srgbClr val="5B6B7C"/>
                </a:solidFill>
                <a:latin typeface="Calibri" pitchFamily="34" charset="0"/>
                <a:ea typeface="Calibri" pitchFamily="34" charset="-122"/>
                <a:cs typeface="Calibri" pitchFamily="34" charset="-120"/>
              </a:rPr>
              <a:t>TF-IDF + Logistic Regression pipeline with confidence scoring and support for multi-category articles.</a:t>
            </a:r>
            <a:endParaRPr lang="en-US" sz="1200" dirty="0"/>
          </a:p>
        </p:txBody>
      </p:sp>
      <p:sp>
        <p:nvSpPr>
          <p:cNvPr id="7" name="Text 5"/>
          <p:cNvSpPr/>
          <p:nvPr/>
        </p:nvSpPr>
        <p:spPr>
          <a:xfrm>
            <a:off x="822960" y="2971800"/>
            <a:ext cx="1463040" cy="27432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Business</a:t>
            </a:r>
            <a:endParaRPr lang="en-US" sz="1200" dirty="0"/>
          </a:p>
        </p:txBody>
      </p:sp>
      <p:sp>
        <p:nvSpPr>
          <p:cNvPr id="8" name="Shape 6"/>
          <p:cNvSpPr/>
          <p:nvPr/>
        </p:nvSpPr>
        <p:spPr>
          <a:xfrm>
            <a:off x="2286000" y="2999232"/>
            <a:ext cx="3108960" cy="201168"/>
          </a:xfrm>
          <a:prstGeom prst="roundRect">
            <a:avLst>
              <a:gd name="adj" fmla="val 13636"/>
            </a:avLst>
          </a:prstGeom>
          <a:solidFill>
            <a:srgbClr val="CADCFC"/>
          </a:solidFill>
          <a:ln/>
        </p:spPr>
        <p:txBody>
          <a:bodyPr/>
          <a:lstStyle/>
          <a:p>
            <a:endParaRPr lang="th-TH"/>
          </a:p>
        </p:txBody>
      </p:sp>
      <p:sp>
        <p:nvSpPr>
          <p:cNvPr id="9" name="Shape 7"/>
          <p:cNvSpPr/>
          <p:nvPr/>
        </p:nvSpPr>
        <p:spPr>
          <a:xfrm>
            <a:off x="2286000" y="2999232"/>
            <a:ext cx="2549347" cy="201168"/>
          </a:xfrm>
          <a:prstGeom prst="roundRect">
            <a:avLst>
              <a:gd name="adj" fmla="val 13636"/>
            </a:avLst>
          </a:prstGeom>
          <a:solidFill>
            <a:srgbClr val="1C7293"/>
          </a:solidFill>
          <a:ln/>
        </p:spPr>
        <p:txBody>
          <a:bodyPr/>
          <a:lstStyle/>
          <a:p>
            <a:endParaRPr lang="th-TH"/>
          </a:p>
        </p:txBody>
      </p:sp>
      <p:sp>
        <p:nvSpPr>
          <p:cNvPr id="10" name="Text 8"/>
          <p:cNvSpPr/>
          <p:nvPr/>
        </p:nvSpPr>
        <p:spPr>
          <a:xfrm>
            <a:off x="5440680" y="2953512"/>
            <a:ext cx="457200" cy="274320"/>
          </a:xfrm>
          <a:prstGeom prst="rect">
            <a:avLst/>
          </a:prstGeom>
          <a:noFill/>
          <a:ln/>
        </p:spPr>
        <p:txBody>
          <a:bodyPr wrap="square" rtlCol="0" anchor="ctr"/>
          <a:lstStyle/>
          <a:p>
            <a:pPr marL="0" indent="0">
              <a:buNone/>
            </a:pPr>
            <a:r>
              <a:rPr lang="en-US" sz="1000" dirty="0">
                <a:solidFill>
                  <a:srgbClr val="5B6B7C"/>
                </a:solidFill>
                <a:latin typeface="Calibri" pitchFamily="34" charset="0"/>
                <a:ea typeface="Calibri" pitchFamily="34" charset="-122"/>
                <a:cs typeface="Calibri" pitchFamily="34" charset="-120"/>
              </a:rPr>
              <a:t>82%</a:t>
            </a:r>
            <a:endParaRPr lang="en-US" sz="1000" dirty="0"/>
          </a:p>
        </p:txBody>
      </p:sp>
      <p:sp>
        <p:nvSpPr>
          <p:cNvPr id="11" name="Text 9"/>
          <p:cNvSpPr/>
          <p:nvPr/>
        </p:nvSpPr>
        <p:spPr>
          <a:xfrm>
            <a:off x="822960" y="3474720"/>
            <a:ext cx="1463040" cy="27432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Technology</a:t>
            </a:r>
            <a:endParaRPr lang="en-US" sz="1200" dirty="0"/>
          </a:p>
        </p:txBody>
      </p:sp>
      <p:sp>
        <p:nvSpPr>
          <p:cNvPr id="12" name="Shape 10"/>
          <p:cNvSpPr/>
          <p:nvPr/>
        </p:nvSpPr>
        <p:spPr>
          <a:xfrm>
            <a:off x="2286000" y="3502152"/>
            <a:ext cx="3108960" cy="201168"/>
          </a:xfrm>
          <a:prstGeom prst="roundRect">
            <a:avLst>
              <a:gd name="adj" fmla="val 13636"/>
            </a:avLst>
          </a:prstGeom>
          <a:solidFill>
            <a:srgbClr val="CADCFC"/>
          </a:solidFill>
          <a:ln/>
        </p:spPr>
        <p:txBody>
          <a:bodyPr/>
          <a:lstStyle/>
          <a:p>
            <a:endParaRPr lang="th-TH"/>
          </a:p>
        </p:txBody>
      </p:sp>
      <p:sp>
        <p:nvSpPr>
          <p:cNvPr id="13" name="Shape 11"/>
          <p:cNvSpPr/>
          <p:nvPr/>
        </p:nvSpPr>
        <p:spPr>
          <a:xfrm>
            <a:off x="2286000" y="3502152"/>
            <a:ext cx="1989734" cy="201168"/>
          </a:xfrm>
          <a:prstGeom prst="roundRect">
            <a:avLst>
              <a:gd name="adj" fmla="val 13636"/>
            </a:avLst>
          </a:prstGeom>
          <a:solidFill>
            <a:srgbClr val="1C7293"/>
          </a:solidFill>
          <a:ln/>
        </p:spPr>
        <p:txBody>
          <a:bodyPr/>
          <a:lstStyle/>
          <a:p>
            <a:endParaRPr lang="th-TH"/>
          </a:p>
        </p:txBody>
      </p:sp>
      <p:sp>
        <p:nvSpPr>
          <p:cNvPr id="14" name="Text 12"/>
          <p:cNvSpPr/>
          <p:nvPr/>
        </p:nvSpPr>
        <p:spPr>
          <a:xfrm>
            <a:off x="5440680" y="3456432"/>
            <a:ext cx="457200" cy="274320"/>
          </a:xfrm>
          <a:prstGeom prst="rect">
            <a:avLst/>
          </a:prstGeom>
          <a:noFill/>
          <a:ln/>
        </p:spPr>
        <p:txBody>
          <a:bodyPr wrap="square" rtlCol="0" anchor="ctr"/>
          <a:lstStyle/>
          <a:p>
            <a:pPr marL="0" indent="0">
              <a:buNone/>
            </a:pPr>
            <a:r>
              <a:rPr lang="en-US" sz="1000" dirty="0">
                <a:solidFill>
                  <a:srgbClr val="5B6B7C"/>
                </a:solidFill>
                <a:latin typeface="Calibri" pitchFamily="34" charset="0"/>
                <a:ea typeface="Calibri" pitchFamily="34" charset="-122"/>
                <a:cs typeface="Calibri" pitchFamily="34" charset="-120"/>
              </a:rPr>
              <a:t>64%</a:t>
            </a:r>
            <a:endParaRPr lang="en-US" sz="1000" dirty="0"/>
          </a:p>
        </p:txBody>
      </p:sp>
      <p:sp>
        <p:nvSpPr>
          <p:cNvPr id="15" name="Text 13"/>
          <p:cNvSpPr/>
          <p:nvPr/>
        </p:nvSpPr>
        <p:spPr>
          <a:xfrm>
            <a:off x="822960" y="3977640"/>
            <a:ext cx="1463040" cy="27432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Politics</a:t>
            </a:r>
            <a:endParaRPr lang="en-US" sz="1200" dirty="0"/>
          </a:p>
        </p:txBody>
      </p:sp>
      <p:sp>
        <p:nvSpPr>
          <p:cNvPr id="16" name="Shape 14"/>
          <p:cNvSpPr/>
          <p:nvPr/>
        </p:nvSpPr>
        <p:spPr>
          <a:xfrm>
            <a:off x="2286000" y="4005072"/>
            <a:ext cx="3108960" cy="201168"/>
          </a:xfrm>
          <a:prstGeom prst="roundRect">
            <a:avLst>
              <a:gd name="adj" fmla="val 13636"/>
            </a:avLst>
          </a:prstGeom>
          <a:solidFill>
            <a:srgbClr val="CADCFC"/>
          </a:solidFill>
          <a:ln/>
        </p:spPr>
        <p:txBody>
          <a:bodyPr/>
          <a:lstStyle/>
          <a:p>
            <a:endParaRPr lang="th-TH"/>
          </a:p>
        </p:txBody>
      </p:sp>
      <p:sp>
        <p:nvSpPr>
          <p:cNvPr id="17" name="Shape 15"/>
          <p:cNvSpPr/>
          <p:nvPr/>
        </p:nvSpPr>
        <p:spPr>
          <a:xfrm>
            <a:off x="2286000" y="4005072"/>
            <a:ext cx="652882" cy="201168"/>
          </a:xfrm>
          <a:prstGeom prst="roundRect">
            <a:avLst>
              <a:gd name="adj" fmla="val 13636"/>
            </a:avLst>
          </a:prstGeom>
          <a:solidFill>
            <a:srgbClr val="1C7293"/>
          </a:solidFill>
          <a:ln/>
        </p:spPr>
        <p:txBody>
          <a:bodyPr/>
          <a:lstStyle/>
          <a:p>
            <a:endParaRPr lang="th-TH"/>
          </a:p>
        </p:txBody>
      </p:sp>
      <p:sp>
        <p:nvSpPr>
          <p:cNvPr id="18" name="Text 16"/>
          <p:cNvSpPr/>
          <p:nvPr/>
        </p:nvSpPr>
        <p:spPr>
          <a:xfrm>
            <a:off x="5440680" y="3959352"/>
            <a:ext cx="457200" cy="274320"/>
          </a:xfrm>
          <a:prstGeom prst="rect">
            <a:avLst/>
          </a:prstGeom>
          <a:noFill/>
          <a:ln/>
        </p:spPr>
        <p:txBody>
          <a:bodyPr wrap="square" rtlCol="0" anchor="ctr"/>
          <a:lstStyle/>
          <a:p>
            <a:pPr marL="0" indent="0">
              <a:buNone/>
            </a:pPr>
            <a:r>
              <a:rPr lang="en-US" sz="1000" dirty="0">
                <a:solidFill>
                  <a:srgbClr val="5B6B7C"/>
                </a:solidFill>
                <a:latin typeface="Calibri" pitchFamily="34" charset="0"/>
                <a:ea typeface="Calibri" pitchFamily="34" charset="-122"/>
                <a:cs typeface="Calibri" pitchFamily="34" charset="-120"/>
              </a:rPr>
              <a:t>21%</a:t>
            </a:r>
            <a:endParaRPr lang="en-US" sz="1000" dirty="0"/>
          </a:p>
        </p:txBody>
      </p:sp>
      <p:sp>
        <p:nvSpPr>
          <p:cNvPr id="19" name="Text 17"/>
          <p:cNvSpPr/>
          <p:nvPr/>
        </p:nvSpPr>
        <p:spPr>
          <a:xfrm>
            <a:off x="822960" y="4663440"/>
            <a:ext cx="4754880" cy="1280160"/>
          </a:xfrm>
          <a:prstGeom prst="rect">
            <a:avLst/>
          </a:prstGeom>
          <a:noFill/>
          <a:ln/>
        </p:spPr>
        <p:txBody>
          <a:bodyPr wrap="square" rtlCol="0" anchor="ctr"/>
          <a:lstStyle/>
          <a:p>
            <a:pPr marL="0" indent="0">
              <a:lnSpc>
                <a:spcPts val="1600"/>
              </a:lnSpc>
              <a:buNone/>
            </a:pPr>
            <a:r>
              <a:rPr lang="en-US" sz="1200" i="1" dirty="0">
                <a:solidFill>
                  <a:srgbClr val="1C7293"/>
                </a:solidFill>
                <a:latin typeface="Calibri" pitchFamily="34" charset="0"/>
                <a:ea typeface="Calibri" pitchFamily="34" charset="-122"/>
                <a:cs typeface="Calibri" pitchFamily="34" charset="-120"/>
              </a:rPr>
              <a:t>Multi-label output lets NewsBot tag one article as both “Business” and “Technology” when coverage overlaps.</a:t>
            </a:r>
            <a:endParaRPr lang="en-US" sz="1200" dirty="0"/>
          </a:p>
        </p:txBody>
      </p:sp>
      <p:sp>
        <p:nvSpPr>
          <p:cNvPr id="20" name="Shape 18"/>
          <p:cNvSpPr/>
          <p:nvPr/>
        </p:nvSpPr>
        <p:spPr>
          <a:xfrm>
            <a:off x="6080760" y="1600200"/>
            <a:ext cx="5532120" cy="4480560"/>
          </a:xfrm>
          <a:prstGeom prst="roundRect">
            <a:avLst>
              <a:gd name="adj" fmla="val 2041"/>
            </a:avLst>
          </a:prstGeom>
          <a:solidFill>
            <a:srgbClr val="0B2545"/>
          </a:solidFill>
          <a:ln/>
        </p:spPr>
        <p:txBody>
          <a:bodyPr/>
          <a:lstStyle/>
          <a:p>
            <a:endParaRPr lang="th-TH"/>
          </a:p>
        </p:txBody>
      </p:sp>
      <p:sp>
        <p:nvSpPr>
          <p:cNvPr id="21" name="Text 19"/>
          <p:cNvSpPr/>
          <p:nvPr/>
        </p:nvSpPr>
        <p:spPr>
          <a:xfrm>
            <a:off x="6355080" y="1810512"/>
            <a:ext cx="5029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Topic Discovery (LDA)</a:t>
            </a:r>
            <a:endParaRPr lang="en-US" sz="1600" dirty="0"/>
          </a:p>
        </p:txBody>
      </p:sp>
      <p:sp>
        <p:nvSpPr>
          <p:cNvPr id="22" name="Text 20"/>
          <p:cNvSpPr/>
          <p:nvPr/>
        </p:nvSpPr>
        <p:spPr>
          <a:xfrm>
            <a:off x="6355080" y="2194560"/>
            <a:ext cx="5029200" cy="54864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Latent Dirichlet Allocation surfaces hidden themes across the corpus without manual tagging.</a:t>
            </a:r>
            <a:endParaRPr lang="en-US" sz="1200" dirty="0"/>
          </a:p>
        </p:txBody>
      </p:sp>
      <p:sp>
        <p:nvSpPr>
          <p:cNvPr id="23" name="Shape 21"/>
          <p:cNvSpPr/>
          <p:nvPr/>
        </p:nvSpPr>
        <p:spPr>
          <a:xfrm>
            <a:off x="6355080" y="2880360"/>
            <a:ext cx="4983480" cy="777240"/>
          </a:xfrm>
          <a:prstGeom prst="roundRect">
            <a:avLst>
              <a:gd name="adj" fmla="val 7059"/>
            </a:avLst>
          </a:prstGeom>
          <a:solidFill>
            <a:srgbClr val="081A33"/>
          </a:solidFill>
          <a:ln w="9525">
            <a:solidFill>
              <a:srgbClr val="1C7293"/>
            </a:solidFill>
            <a:prstDash val="solid"/>
          </a:ln>
        </p:spPr>
        <p:txBody>
          <a:bodyPr/>
          <a:lstStyle/>
          <a:p>
            <a:endParaRPr lang="th-TH"/>
          </a:p>
        </p:txBody>
      </p:sp>
      <p:sp>
        <p:nvSpPr>
          <p:cNvPr id="24" name="Text 22"/>
          <p:cNvSpPr/>
          <p:nvPr/>
        </p:nvSpPr>
        <p:spPr>
          <a:xfrm>
            <a:off x="6537960" y="2953512"/>
            <a:ext cx="4663440" cy="320040"/>
          </a:xfrm>
          <a:prstGeom prst="rect">
            <a:avLst/>
          </a:prstGeom>
          <a:noFill/>
          <a:ln/>
        </p:spPr>
        <p:txBody>
          <a:bodyPr wrap="square"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Topic 1: Markets &amp; Economy</a:t>
            </a:r>
            <a:endParaRPr lang="en-US" sz="1200" dirty="0"/>
          </a:p>
        </p:txBody>
      </p:sp>
      <p:sp>
        <p:nvSpPr>
          <p:cNvPr id="25" name="Text 23"/>
          <p:cNvSpPr/>
          <p:nvPr/>
        </p:nvSpPr>
        <p:spPr>
          <a:xfrm>
            <a:off x="6537960" y="3282696"/>
            <a:ext cx="4663440" cy="29260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market, stock, growth, jobs, rate</a:t>
            </a:r>
            <a:endParaRPr lang="en-US" sz="1050" dirty="0"/>
          </a:p>
        </p:txBody>
      </p:sp>
      <p:sp>
        <p:nvSpPr>
          <p:cNvPr id="26" name="Shape 24"/>
          <p:cNvSpPr/>
          <p:nvPr/>
        </p:nvSpPr>
        <p:spPr>
          <a:xfrm>
            <a:off x="6355080" y="3794760"/>
            <a:ext cx="4983480" cy="777240"/>
          </a:xfrm>
          <a:prstGeom prst="roundRect">
            <a:avLst>
              <a:gd name="adj" fmla="val 7059"/>
            </a:avLst>
          </a:prstGeom>
          <a:solidFill>
            <a:srgbClr val="081A33"/>
          </a:solidFill>
          <a:ln w="9525">
            <a:solidFill>
              <a:srgbClr val="1C7293"/>
            </a:solidFill>
            <a:prstDash val="solid"/>
          </a:ln>
        </p:spPr>
        <p:txBody>
          <a:bodyPr/>
          <a:lstStyle/>
          <a:p>
            <a:endParaRPr lang="th-TH"/>
          </a:p>
        </p:txBody>
      </p:sp>
      <p:sp>
        <p:nvSpPr>
          <p:cNvPr id="27" name="Text 25"/>
          <p:cNvSpPr/>
          <p:nvPr/>
        </p:nvSpPr>
        <p:spPr>
          <a:xfrm>
            <a:off x="6537960" y="3867912"/>
            <a:ext cx="4663440" cy="320040"/>
          </a:xfrm>
          <a:prstGeom prst="rect">
            <a:avLst/>
          </a:prstGeom>
          <a:noFill/>
          <a:ln/>
        </p:spPr>
        <p:txBody>
          <a:bodyPr wrap="square"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Topic 2: Elections &amp; Policy</a:t>
            </a:r>
            <a:endParaRPr lang="en-US" sz="1200" dirty="0"/>
          </a:p>
        </p:txBody>
      </p:sp>
      <p:sp>
        <p:nvSpPr>
          <p:cNvPr id="28" name="Text 26"/>
          <p:cNvSpPr/>
          <p:nvPr/>
        </p:nvSpPr>
        <p:spPr>
          <a:xfrm>
            <a:off x="6537960" y="4197096"/>
            <a:ext cx="4663440" cy="29260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vote, election, policy, government</a:t>
            </a:r>
            <a:endParaRPr lang="en-US" sz="1050" dirty="0"/>
          </a:p>
        </p:txBody>
      </p:sp>
      <p:sp>
        <p:nvSpPr>
          <p:cNvPr id="29" name="Shape 27"/>
          <p:cNvSpPr/>
          <p:nvPr/>
        </p:nvSpPr>
        <p:spPr>
          <a:xfrm>
            <a:off x="6355080" y="4709160"/>
            <a:ext cx="4983480" cy="777240"/>
          </a:xfrm>
          <a:prstGeom prst="roundRect">
            <a:avLst>
              <a:gd name="adj" fmla="val 7059"/>
            </a:avLst>
          </a:prstGeom>
          <a:solidFill>
            <a:srgbClr val="081A33"/>
          </a:solidFill>
          <a:ln w="9525">
            <a:solidFill>
              <a:srgbClr val="1C7293"/>
            </a:solidFill>
            <a:prstDash val="solid"/>
          </a:ln>
        </p:spPr>
        <p:txBody>
          <a:bodyPr/>
          <a:lstStyle/>
          <a:p>
            <a:endParaRPr lang="th-TH"/>
          </a:p>
        </p:txBody>
      </p:sp>
      <p:sp>
        <p:nvSpPr>
          <p:cNvPr id="30" name="Text 28"/>
          <p:cNvSpPr/>
          <p:nvPr/>
        </p:nvSpPr>
        <p:spPr>
          <a:xfrm>
            <a:off x="6537960" y="4782312"/>
            <a:ext cx="4663440" cy="320040"/>
          </a:xfrm>
          <a:prstGeom prst="rect">
            <a:avLst/>
          </a:prstGeom>
          <a:noFill/>
          <a:ln/>
        </p:spPr>
        <p:txBody>
          <a:bodyPr wrap="square"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Topic 3: AI &amp; Innovation</a:t>
            </a:r>
            <a:endParaRPr lang="en-US" sz="1200" dirty="0"/>
          </a:p>
        </p:txBody>
      </p:sp>
      <p:sp>
        <p:nvSpPr>
          <p:cNvPr id="31" name="Text 29"/>
          <p:cNvSpPr/>
          <p:nvPr/>
        </p:nvSpPr>
        <p:spPr>
          <a:xfrm>
            <a:off x="6537960" y="5111496"/>
            <a:ext cx="4663440" cy="29260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ai, model, tech, research, data</a:t>
            </a:r>
            <a:endParaRPr lang="en-US" sz="1050" dirty="0"/>
          </a:p>
        </p:txBody>
      </p:sp>
      <p:sp>
        <p:nvSpPr>
          <p:cNvPr id="32" name="Text 3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MODULE A · CONTENT ANALYSIS</a:t>
            </a:r>
            <a:endParaRPr lang="en-US" sz="1200" dirty="0"/>
          </a:p>
        </p:txBody>
      </p:sp>
      <p:sp>
        <p:nvSpPr>
          <p:cNvPr id="3" name="Text 1"/>
          <p:cNvSpPr/>
          <p:nvPr/>
        </p:nvSpPr>
        <p:spPr>
          <a:xfrm>
            <a:off x="548640" y="685800"/>
            <a:ext cx="987552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Sentiment Evolution &amp; Entity Relationships</a:t>
            </a:r>
            <a:endParaRPr lang="en-US" sz="2800" dirty="0"/>
          </a:p>
        </p:txBody>
      </p:sp>
      <p:sp>
        <p:nvSpPr>
          <p:cNvPr id="4" name="Shape 2"/>
          <p:cNvSpPr/>
          <p:nvPr/>
        </p:nvSpPr>
        <p:spPr>
          <a:xfrm>
            <a:off x="548640" y="1600200"/>
            <a:ext cx="5394960" cy="4480560"/>
          </a:xfrm>
          <a:prstGeom prst="roundRect">
            <a:avLst>
              <a:gd name="adj" fmla="val 2041"/>
            </a:avLst>
          </a:prstGeom>
          <a:solidFill>
            <a:srgbClr val="FFFFFF"/>
          </a:solidFill>
          <a:ln w="12700">
            <a:solidFill>
              <a:srgbClr val="CADCFC"/>
            </a:solidFill>
            <a:prstDash val="solid"/>
          </a:ln>
        </p:spPr>
        <p:txBody>
          <a:bodyPr/>
          <a:lstStyle/>
          <a:p>
            <a:endParaRPr lang="th-TH"/>
          </a:p>
        </p:txBody>
      </p:sp>
      <p:sp>
        <p:nvSpPr>
          <p:cNvPr id="5" name="Text 3"/>
          <p:cNvSpPr/>
          <p:nvPr/>
        </p:nvSpPr>
        <p:spPr>
          <a:xfrm>
            <a:off x="822960" y="1783080"/>
            <a:ext cx="4754880" cy="36576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Sentiment Over Time</a:t>
            </a:r>
            <a:endParaRPr lang="en-US" sz="1500" dirty="0"/>
          </a:p>
        </p:txBody>
      </p:sp>
      <p:sp>
        <p:nvSpPr>
          <p:cNvPr id="6" name="Text 4"/>
          <p:cNvSpPr/>
          <p:nvPr/>
        </p:nvSpPr>
        <p:spPr>
          <a:xfrm>
            <a:off x="822960" y="2148840"/>
            <a:ext cx="4754880" cy="5486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Transformer-based sentiment (DistilBERT) tracked weekly to reveal shifts in tone around an evolving story.</a:t>
            </a:r>
            <a:endParaRPr lang="en-US" sz="1150" dirty="0"/>
          </a:p>
        </p:txBody>
      </p:sp>
      <p:graphicFrame>
        <p:nvGraphicFramePr>
          <p:cNvPr id="7" name="Chart 0"/>
          <p:cNvGraphicFramePr/>
          <p:nvPr/>
        </p:nvGraphicFramePr>
        <p:xfrm>
          <a:off x="731520" y="2788920"/>
          <a:ext cx="50292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172200" y="1600200"/>
            <a:ext cx="5440680" cy="4480560"/>
          </a:xfrm>
          <a:prstGeom prst="roundRect">
            <a:avLst>
              <a:gd name="adj" fmla="val 2041"/>
            </a:avLst>
          </a:prstGeom>
          <a:solidFill>
            <a:srgbClr val="FFFFFF"/>
          </a:solidFill>
          <a:ln w="12700">
            <a:solidFill>
              <a:srgbClr val="CADCFC"/>
            </a:solidFill>
            <a:prstDash val="solid"/>
          </a:ln>
        </p:spPr>
        <p:txBody>
          <a:bodyPr/>
          <a:lstStyle/>
          <a:p>
            <a:endParaRPr lang="th-TH"/>
          </a:p>
        </p:txBody>
      </p:sp>
      <p:sp>
        <p:nvSpPr>
          <p:cNvPr id="9" name="Text 6"/>
          <p:cNvSpPr/>
          <p:nvPr/>
        </p:nvSpPr>
        <p:spPr>
          <a:xfrm>
            <a:off x="6446520" y="1783080"/>
            <a:ext cx="4846320" cy="36576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Entity Relationship Mapping</a:t>
            </a:r>
            <a:endParaRPr lang="en-US" sz="1500" dirty="0"/>
          </a:p>
        </p:txBody>
      </p:sp>
      <p:sp>
        <p:nvSpPr>
          <p:cNvPr id="10" name="Text 7"/>
          <p:cNvSpPr/>
          <p:nvPr/>
        </p:nvSpPr>
        <p:spPr>
          <a:xfrm>
            <a:off x="6446520" y="2148840"/>
            <a:ext cx="4846320" cy="5486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spaCy NER + NetworkX build a knowledge graph linking people, organizations, and locations mentioned together.</a:t>
            </a:r>
            <a:endParaRPr lang="en-US" sz="1150" dirty="0"/>
          </a:p>
        </p:txBody>
      </p:sp>
      <p:sp>
        <p:nvSpPr>
          <p:cNvPr id="11" name="Shape 8"/>
          <p:cNvSpPr/>
          <p:nvPr/>
        </p:nvSpPr>
        <p:spPr>
          <a:xfrm>
            <a:off x="8869680" y="3108960"/>
            <a:ext cx="0" cy="1005840"/>
          </a:xfrm>
          <a:prstGeom prst="line">
            <a:avLst/>
          </a:prstGeom>
          <a:noFill/>
          <a:ln w="19050">
            <a:solidFill>
              <a:srgbClr val="CADCFC"/>
            </a:solidFill>
            <a:prstDash val="solid"/>
          </a:ln>
        </p:spPr>
        <p:txBody>
          <a:bodyPr/>
          <a:lstStyle/>
          <a:p>
            <a:endParaRPr lang="th-TH"/>
          </a:p>
        </p:txBody>
      </p:sp>
      <p:sp>
        <p:nvSpPr>
          <p:cNvPr id="12" name="Shape 9"/>
          <p:cNvSpPr/>
          <p:nvPr/>
        </p:nvSpPr>
        <p:spPr>
          <a:xfrm>
            <a:off x="8869680" y="3108960"/>
            <a:ext cx="1371600" cy="914400"/>
          </a:xfrm>
          <a:prstGeom prst="line">
            <a:avLst/>
          </a:prstGeom>
          <a:noFill/>
          <a:ln w="19050">
            <a:solidFill>
              <a:srgbClr val="CADCFC"/>
            </a:solidFill>
            <a:prstDash val="solid"/>
          </a:ln>
        </p:spPr>
        <p:txBody>
          <a:bodyPr/>
          <a:lstStyle/>
          <a:p>
            <a:endParaRPr lang="th-TH"/>
          </a:p>
        </p:txBody>
      </p:sp>
      <p:sp>
        <p:nvSpPr>
          <p:cNvPr id="13" name="Shape 10"/>
          <p:cNvSpPr/>
          <p:nvPr/>
        </p:nvSpPr>
        <p:spPr>
          <a:xfrm>
            <a:off x="8869680" y="3108960"/>
            <a:ext cx="0" cy="2103120"/>
          </a:xfrm>
          <a:prstGeom prst="line">
            <a:avLst/>
          </a:prstGeom>
          <a:noFill/>
          <a:ln w="19050">
            <a:solidFill>
              <a:srgbClr val="CADCFC"/>
            </a:solidFill>
            <a:prstDash val="solid"/>
          </a:ln>
        </p:spPr>
        <p:txBody>
          <a:bodyPr/>
          <a:lstStyle/>
          <a:p>
            <a:endParaRPr lang="th-TH"/>
          </a:p>
        </p:txBody>
      </p:sp>
      <p:sp>
        <p:nvSpPr>
          <p:cNvPr id="14" name="Shape 11"/>
          <p:cNvSpPr/>
          <p:nvPr/>
        </p:nvSpPr>
        <p:spPr>
          <a:xfrm>
            <a:off x="7315200" y="4114800"/>
            <a:ext cx="1463040" cy="1097280"/>
          </a:xfrm>
          <a:prstGeom prst="line">
            <a:avLst/>
          </a:prstGeom>
          <a:noFill/>
          <a:ln w="19050">
            <a:solidFill>
              <a:srgbClr val="CADCFC"/>
            </a:solidFill>
            <a:prstDash val="solid"/>
          </a:ln>
        </p:spPr>
        <p:txBody>
          <a:bodyPr/>
          <a:lstStyle/>
          <a:p>
            <a:endParaRPr lang="th-TH"/>
          </a:p>
        </p:txBody>
      </p:sp>
      <p:sp>
        <p:nvSpPr>
          <p:cNvPr id="15" name="Shape 12"/>
          <p:cNvSpPr/>
          <p:nvPr/>
        </p:nvSpPr>
        <p:spPr>
          <a:xfrm>
            <a:off x="8641080" y="2880360"/>
            <a:ext cx="457200" cy="457200"/>
          </a:xfrm>
          <a:prstGeom prst="ellipse">
            <a:avLst/>
          </a:prstGeom>
          <a:solidFill>
            <a:srgbClr val="0B2545"/>
          </a:solidFill>
          <a:ln w="19050">
            <a:solidFill>
              <a:srgbClr val="FFFFFF"/>
            </a:solidFill>
            <a:prstDash val="solid"/>
          </a:ln>
        </p:spPr>
        <p:txBody>
          <a:bodyPr/>
          <a:lstStyle/>
          <a:p>
            <a:endParaRPr lang="th-TH"/>
          </a:p>
        </p:txBody>
      </p:sp>
      <p:sp>
        <p:nvSpPr>
          <p:cNvPr id="16" name="Text 13"/>
          <p:cNvSpPr/>
          <p:nvPr/>
        </p:nvSpPr>
        <p:spPr>
          <a:xfrm>
            <a:off x="8366760" y="3364992"/>
            <a:ext cx="1005840" cy="365760"/>
          </a:xfrm>
          <a:prstGeom prst="rect">
            <a:avLst/>
          </a:prstGeom>
          <a:noFill/>
          <a:ln/>
        </p:spPr>
        <p:txBody>
          <a:bodyPr wrap="square" rtlCol="0" anchor="ctr"/>
          <a:lstStyle/>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Federal</a:t>
            </a:r>
            <a:endParaRPr lang="en-US" sz="900" dirty="0"/>
          </a:p>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Reserve</a:t>
            </a:r>
            <a:endParaRPr lang="en-US" sz="900" dirty="0"/>
          </a:p>
        </p:txBody>
      </p:sp>
      <p:sp>
        <p:nvSpPr>
          <p:cNvPr id="17" name="Shape 14"/>
          <p:cNvSpPr/>
          <p:nvPr/>
        </p:nvSpPr>
        <p:spPr>
          <a:xfrm>
            <a:off x="7132320" y="3931920"/>
            <a:ext cx="365760" cy="365760"/>
          </a:xfrm>
          <a:prstGeom prst="ellipse">
            <a:avLst/>
          </a:prstGeom>
          <a:solidFill>
            <a:srgbClr val="1C7293"/>
          </a:solidFill>
          <a:ln w="19050">
            <a:solidFill>
              <a:srgbClr val="FFFFFF"/>
            </a:solidFill>
            <a:prstDash val="solid"/>
          </a:ln>
        </p:spPr>
        <p:txBody>
          <a:bodyPr/>
          <a:lstStyle/>
          <a:p>
            <a:endParaRPr lang="th-TH"/>
          </a:p>
        </p:txBody>
      </p:sp>
      <p:sp>
        <p:nvSpPr>
          <p:cNvPr id="18" name="Text 15"/>
          <p:cNvSpPr/>
          <p:nvPr/>
        </p:nvSpPr>
        <p:spPr>
          <a:xfrm>
            <a:off x="6812280" y="4325112"/>
            <a:ext cx="1005840" cy="365760"/>
          </a:xfrm>
          <a:prstGeom prst="rect">
            <a:avLst/>
          </a:prstGeom>
          <a:noFill/>
          <a:ln/>
        </p:spPr>
        <p:txBody>
          <a:bodyPr wrap="square" rtlCol="0" anchor="ctr"/>
          <a:lstStyle/>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Jerome</a:t>
            </a:r>
            <a:endParaRPr lang="en-US" sz="900" dirty="0"/>
          </a:p>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Powell</a:t>
            </a:r>
            <a:endParaRPr lang="en-US" sz="900" dirty="0"/>
          </a:p>
        </p:txBody>
      </p:sp>
      <p:sp>
        <p:nvSpPr>
          <p:cNvPr id="19" name="Shape 16"/>
          <p:cNvSpPr/>
          <p:nvPr/>
        </p:nvSpPr>
        <p:spPr>
          <a:xfrm>
            <a:off x="10058400" y="3840480"/>
            <a:ext cx="365760" cy="365760"/>
          </a:xfrm>
          <a:prstGeom prst="ellipse">
            <a:avLst/>
          </a:prstGeom>
          <a:solidFill>
            <a:srgbClr val="1C7293"/>
          </a:solidFill>
          <a:ln w="19050">
            <a:solidFill>
              <a:srgbClr val="FFFFFF"/>
            </a:solidFill>
            <a:prstDash val="solid"/>
          </a:ln>
        </p:spPr>
        <p:txBody>
          <a:bodyPr/>
          <a:lstStyle/>
          <a:p>
            <a:endParaRPr lang="th-TH"/>
          </a:p>
        </p:txBody>
      </p:sp>
      <p:sp>
        <p:nvSpPr>
          <p:cNvPr id="20" name="Text 17"/>
          <p:cNvSpPr/>
          <p:nvPr/>
        </p:nvSpPr>
        <p:spPr>
          <a:xfrm>
            <a:off x="9738360" y="4233672"/>
            <a:ext cx="1005840" cy="365760"/>
          </a:xfrm>
          <a:prstGeom prst="rect">
            <a:avLst/>
          </a:prstGeom>
          <a:noFill/>
          <a:ln/>
        </p:spPr>
        <p:txBody>
          <a:bodyPr wrap="square" rtlCol="0" anchor="ctr"/>
          <a:lstStyle/>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Wall</a:t>
            </a:r>
            <a:endParaRPr lang="en-US" sz="900" dirty="0"/>
          </a:p>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Street</a:t>
            </a:r>
            <a:endParaRPr lang="en-US" sz="900" dirty="0"/>
          </a:p>
        </p:txBody>
      </p:sp>
      <p:sp>
        <p:nvSpPr>
          <p:cNvPr id="21" name="Shape 18"/>
          <p:cNvSpPr/>
          <p:nvPr/>
        </p:nvSpPr>
        <p:spPr>
          <a:xfrm>
            <a:off x="8595360" y="5029200"/>
            <a:ext cx="365760" cy="365760"/>
          </a:xfrm>
          <a:prstGeom prst="ellipse">
            <a:avLst/>
          </a:prstGeom>
          <a:solidFill>
            <a:srgbClr val="E8A33D"/>
          </a:solidFill>
          <a:ln w="19050">
            <a:solidFill>
              <a:srgbClr val="FFFFFF"/>
            </a:solidFill>
            <a:prstDash val="solid"/>
          </a:ln>
        </p:spPr>
        <p:txBody>
          <a:bodyPr/>
          <a:lstStyle/>
          <a:p>
            <a:endParaRPr lang="th-TH"/>
          </a:p>
        </p:txBody>
      </p:sp>
      <p:sp>
        <p:nvSpPr>
          <p:cNvPr id="22" name="Text 19"/>
          <p:cNvSpPr/>
          <p:nvPr/>
        </p:nvSpPr>
        <p:spPr>
          <a:xfrm>
            <a:off x="8275320" y="5422392"/>
            <a:ext cx="1005840" cy="365760"/>
          </a:xfrm>
          <a:prstGeom prst="rect">
            <a:avLst/>
          </a:prstGeom>
          <a:noFill/>
          <a:ln/>
        </p:spPr>
        <p:txBody>
          <a:bodyPr wrap="square" rtlCol="0" anchor="ctr"/>
          <a:lstStyle/>
          <a:p>
            <a:pPr marL="0" indent="0" algn="ctr">
              <a:lnSpc>
                <a:spcPts val="1000"/>
              </a:lnSpc>
              <a:buNone/>
            </a:pPr>
            <a:r>
              <a:rPr lang="en-US" sz="900" dirty="0">
                <a:solidFill>
                  <a:srgbClr val="1B2733"/>
                </a:solidFill>
                <a:latin typeface="Calibri" pitchFamily="34" charset="0"/>
                <a:ea typeface="Calibri" pitchFamily="34" charset="-122"/>
                <a:cs typeface="Calibri" pitchFamily="34" charset="-120"/>
              </a:rPr>
              <a:t>Inflation</a:t>
            </a:r>
            <a:endParaRPr lang="en-US" sz="900" dirty="0"/>
          </a:p>
        </p:txBody>
      </p:sp>
      <p:sp>
        <p:nvSpPr>
          <p:cNvPr id="23"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MODULE B · LANGUAGE &amp; GENERATION</a:t>
            </a:r>
            <a:endParaRPr lang="en-US" sz="1200" dirty="0"/>
          </a:p>
        </p:txBody>
      </p:sp>
      <p:sp>
        <p:nvSpPr>
          <p:cNvPr id="3" name="Text 1"/>
          <p:cNvSpPr/>
          <p:nvPr/>
        </p:nvSpPr>
        <p:spPr>
          <a:xfrm>
            <a:off x="548640" y="68580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Summarize, Search, and Enhance — Automatically</a:t>
            </a:r>
            <a:endParaRPr lang="en-US" sz="2800" dirty="0"/>
          </a:p>
        </p:txBody>
      </p:sp>
      <p:sp>
        <p:nvSpPr>
          <p:cNvPr id="4" name="Shape 2"/>
          <p:cNvSpPr/>
          <p:nvPr/>
        </p:nvSpPr>
        <p:spPr>
          <a:xfrm>
            <a:off x="548640" y="1828800"/>
            <a:ext cx="3611880" cy="4206240"/>
          </a:xfrm>
          <a:prstGeom prst="roundRect">
            <a:avLst>
              <a:gd name="adj" fmla="val 2532"/>
            </a:avLst>
          </a:prstGeom>
          <a:solidFill>
            <a:srgbClr val="081A33"/>
          </a:solidFill>
          <a:ln w="12700">
            <a:solidFill>
              <a:srgbClr val="1C7293"/>
            </a:solidFill>
            <a:prstDash val="solid"/>
          </a:ln>
        </p:spPr>
        <p:txBody>
          <a:bodyPr/>
          <a:lstStyle/>
          <a:p>
            <a:endParaRPr lang="th-TH"/>
          </a:p>
        </p:txBody>
      </p:sp>
      <p:sp>
        <p:nvSpPr>
          <p:cNvPr id="5" name="Shape 3"/>
          <p:cNvSpPr/>
          <p:nvPr/>
        </p:nvSpPr>
        <p:spPr>
          <a:xfrm>
            <a:off x="868680" y="2148840"/>
            <a:ext cx="502920" cy="502920"/>
          </a:xfrm>
          <a:prstGeom prst="roundRect">
            <a:avLst>
              <a:gd name="adj" fmla="val 21818"/>
            </a:avLst>
          </a:prstGeom>
          <a:solidFill>
            <a:srgbClr val="1C7293"/>
          </a:solidFill>
          <a:ln/>
        </p:spPr>
        <p:txBody>
          <a:bodyPr/>
          <a:lstStyle/>
          <a:p>
            <a:endParaRPr lang="th-TH"/>
          </a:p>
        </p:txBody>
      </p:sp>
      <p:sp>
        <p:nvSpPr>
          <p:cNvPr id="6" name="Text 4"/>
          <p:cNvSpPr/>
          <p:nvPr/>
        </p:nvSpPr>
        <p:spPr>
          <a:xfrm>
            <a:off x="868680" y="2880360"/>
            <a:ext cx="3017520" cy="640080"/>
          </a:xfrm>
          <a:prstGeom prst="rect">
            <a:avLst/>
          </a:prstGeom>
          <a:noFill/>
          <a:ln/>
        </p:spPr>
        <p:txBody>
          <a:bodyPr wrap="square" rtlCol="0" anchor="ctr"/>
          <a:lstStyle/>
          <a:p>
            <a:pPr marL="0" indent="0">
              <a:lnSpc>
                <a:spcPts val="1900"/>
              </a:lnSpc>
              <a:buNone/>
            </a:pPr>
            <a:r>
              <a:rPr lang="en-US" sz="1600" b="1" dirty="0">
                <a:solidFill>
                  <a:srgbClr val="FFFFFF"/>
                </a:solidFill>
                <a:latin typeface="Calibri" pitchFamily="34" charset="0"/>
                <a:ea typeface="Calibri" pitchFamily="34" charset="-122"/>
                <a:cs typeface="Calibri" pitchFamily="34" charset="-120"/>
              </a:rPr>
              <a:t>Intelligent Summarization</a:t>
            </a:r>
            <a:endParaRPr lang="en-US" sz="1600" dirty="0"/>
          </a:p>
        </p:txBody>
      </p:sp>
      <p:sp>
        <p:nvSpPr>
          <p:cNvPr id="7" name="Text 5"/>
          <p:cNvSpPr/>
          <p:nvPr/>
        </p:nvSpPr>
        <p:spPr>
          <a:xfrm>
            <a:off x="868680" y="3566160"/>
            <a:ext cx="3017520" cy="219456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Fine-tuned BART (facebook/bart-large-cnn) condenses long articles into accurate, readable summaries.</a:t>
            </a:r>
            <a:endParaRPr lang="en-US" sz="1200" dirty="0"/>
          </a:p>
        </p:txBody>
      </p:sp>
      <p:sp>
        <p:nvSpPr>
          <p:cNvPr id="8" name="Shape 6"/>
          <p:cNvSpPr/>
          <p:nvPr/>
        </p:nvSpPr>
        <p:spPr>
          <a:xfrm>
            <a:off x="4434840" y="1828800"/>
            <a:ext cx="3611880" cy="4206240"/>
          </a:xfrm>
          <a:prstGeom prst="roundRect">
            <a:avLst>
              <a:gd name="adj" fmla="val 2532"/>
            </a:avLst>
          </a:prstGeom>
          <a:solidFill>
            <a:srgbClr val="081A33"/>
          </a:solidFill>
          <a:ln w="12700">
            <a:solidFill>
              <a:srgbClr val="E8A33D"/>
            </a:solidFill>
            <a:prstDash val="solid"/>
          </a:ln>
        </p:spPr>
        <p:txBody>
          <a:bodyPr/>
          <a:lstStyle/>
          <a:p>
            <a:endParaRPr lang="th-TH"/>
          </a:p>
        </p:txBody>
      </p:sp>
      <p:sp>
        <p:nvSpPr>
          <p:cNvPr id="9" name="Shape 7"/>
          <p:cNvSpPr/>
          <p:nvPr/>
        </p:nvSpPr>
        <p:spPr>
          <a:xfrm>
            <a:off x="4754880" y="2148840"/>
            <a:ext cx="502920" cy="502920"/>
          </a:xfrm>
          <a:prstGeom prst="roundRect">
            <a:avLst>
              <a:gd name="adj" fmla="val 21818"/>
            </a:avLst>
          </a:prstGeom>
          <a:solidFill>
            <a:srgbClr val="E8A33D"/>
          </a:solidFill>
          <a:ln/>
        </p:spPr>
        <p:txBody>
          <a:bodyPr/>
          <a:lstStyle/>
          <a:p>
            <a:endParaRPr lang="th-TH"/>
          </a:p>
        </p:txBody>
      </p:sp>
      <p:sp>
        <p:nvSpPr>
          <p:cNvPr id="10" name="Text 8"/>
          <p:cNvSpPr/>
          <p:nvPr/>
        </p:nvSpPr>
        <p:spPr>
          <a:xfrm>
            <a:off x="4754880" y="2880360"/>
            <a:ext cx="3017520" cy="640080"/>
          </a:xfrm>
          <a:prstGeom prst="rect">
            <a:avLst/>
          </a:prstGeom>
          <a:noFill/>
          <a:ln/>
        </p:spPr>
        <p:txBody>
          <a:bodyPr wrap="square" rtlCol="0" anchor="ctr"/>
          <a:lstStyle/>
          <a:p>
            <a:pPr marL="0" indent="0">
              <a:lnSpc>
                <a:spcPts val="1900"/>
              </a:lnSpc>
              <a:buNone/>
            </a:pPr>
            <a:r>
              <a:rPr lang="en-US" sz="1600" b="1" dirty="0">
                <a:solidFill>
                  <a:srgbClr val="FFFFFF"/>
                </a:solidFill>
                <a:latin typeface="Calibri" pitchFamily="34" charset="0"/>
                <a:ea typeface="Calibri" pitchFamily="34" charset="-122"/>
                <a:cs typeface="Calibri" pitchFamily="34" charset="-120"/>
              </a:rPr>
              <a:t>Semantic Search</a:t>
            </a:r>
            <a:endParaRPr lang="en-US" sz="1600" dirty="0"/>
          </a:p>
        </p:txBody>
      </p:sp>
      <p:sp>
        <p:nvSpPr>
          <p:cNvPr id="11" name="Text 9"/>
          <p:cNvSpPr/>
          <p:nvPr/>
        </p:nvSpPr>
        <p:spPr>
          <a:xfrm>
            <a:off x="4754880" y="3566160"/>
            <a:ext cx="3017520" cy="219456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Sentence-transformer embeddings (all-MiniLM-L6-v2) find related articles by meaning, not just keywords.</a:t>
            </a:r>
            <a:endParaRPr lang="en-US" sz="1200" dirty="0"/>
          </a:p>
        </p:txBody>
      </p:sp>
      <p:sp>
        <p:nvSpPr>
          <p:cNvPr id="12" name="Shape 10"/>
          <p:cNvSpPr/>
          <p:nvPr/>
        </p:nvSpPr>
        <p:spPr>
          <a:xfrm>
            <a:off x="8321040" y="1828800"/>
            <a:ext cx="3611880" cy="4206240"/>
          </a:xfrm>
          <a:prstGeom prst="roundRect">
            <a:avLst>
              <a:gd name="adj" fmla="val 2532"/>
            </a:avLst>
          </a:prstGeom>
          <a:solidFill>
            <a:srgbClr val="081A33"/>
          </a:solidFill>
          <a:ln w="12700">
            <a:solidFill>
              <a:srgbClr val="1C7293"/>
            </a:solidFill>
            <a:prstDash val="solid"/>
          </a:ln>
        </p:spPr>
        <p:txBody>
          <a:bodyPr/>
          <a:lstStyle/>
          <a:p>
            <a:endParaRPr lang="th-TH"/>
          </a:p>
        </p:txBody>
      </p:sp>
      <p:sp>
        <p:nvSpPr>
          <p:cNvPr id="13" name="Shape 11"/>
          <p:cNvSpPr/>
          <p:nvPr/>
        </p:nvSpPr>
        <p:spPr>
          <a:xfrm>
            <a:off x="8641080" y="2148840"/>
            <a:ext cx="502920" cy="502920"/>
          </a:xfrm>
          <a:prstGeom prst="roundRect">
            <a:avLst>
              <a:gd name="adj" fmla="val 21818"/>
            </a:avLst>
          </a:prstGeom>
          <a:solidFill>
            <a:srgbClr val="1C7293"/>
          </a:solidFill>
          <a:ln/>
        </p:spPr>
        <p:txBody>
          <a:bodyPr/>
          <a:lstStyle/>
          <a:p>
            <a:endParaRPr lang="th-TH"/>
          </a:p>
        </p:txBody>
      </p:sp>
      <p:sp>
        <p:nvSpPr>
          <p:cNvPr id="14" name="Text 12"/>
          <p:cNvSpPr/>
          <p:nvPr/>
        </p:nvSpPr>
        <p:spPr>
          <a:xfrm>
            <a:off x="8641080" y="2880360"/>
            <a:ext cx="3017520" cy="640080"/>
          </a:xfrm>
          <a:prstGeom prst="rect">
            <a:avLst/>
          </a:prstGeom>
          <a:noFill/>
          <a:ln/>
        </p:spPr>
        <p:txBody>
          <a:bodyPr wrap="square" rtlCol="0" anchor="ctr"/>
          <a:lstStyle/>
          <a:p>
            <a:pPr marL="0" indent="0">
              <a:lnSpc>
                <a:spcPts val="1900"/>
              </a:lnSpc>
              <a:buNone/>
            </a:pPr>
            <a:r>
              <a:rPr lang="en-US" sz="1600" b="1" dirty="0">
                <a:solidFill>
                  <a:srgbClr val="FFFFFF"/>
                </a:solidFill>
                <a:latin typeface="Calibri" pitchFamily="34" charset="0"/>
                <a:ea typeface="Calibri" pitchFamily="34" charset="-122"/>
                <a:cs typeface="Calibri" pitchFamily="34" charset="-120"/>
              </a:rPr>
              <a:t>Content Enhancement</a:t>
            </a:r>
            <a:endParaRPr lang="en-US" sz="1600" dirty="0"/>
          </a:p>
        </p:txBody>
      </p:sp>
      <p:sp>
        <p:nvSpPr>
          <p:cNvPr id="15" name="Text 13"/>
          <p:cNvSpPr/>
          <p:nvPr/>
        </p:nvSpPr>
        <p:spPr>
          <a:xfrm>
            <a:off x="8641080" y="3566160"/>
            <a:ext cx="3017520" cy="2194560"/>
          </a:xfrm>
          <a:prstGeom prst="rect">
            <a:avLst/>
          </a:prstGeom>
          <a:noFill/>
          <a:ln/>
        </p:spPr>
        <p:txBody>
          <a:bodyPr wrap="square"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Automatically surfaces missing perspectives — economic, political, social — and flags coverage gaps.</a:t>
            </a:r>
            <a:endParaRPr lang="en-US" sz="1200" dirty="0"/>
          </a:p>
        </p:txBody>
      </p:sp>
      <p:sp>
        <p:nvSpPr>
          <p:cNvPr id="16"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MODULE C · MULTILINGUAL INTELLIGENCE</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News Doesn't Stop at a Language Barrier</a:t>
            </a:r>
            <a:endParaRPr lang="en-US" sz="2800" dirty="0"/>
          </a:p>
        </p:txBody>
      </p:sp>
      <p:sp>
        <p:nvSpPr>
          <p:cNvPr id="4" name="Text 2"/>
          <p:cNvSpPr/>
          <p:nvPr/>
        </p:nvSpPr>
        <p:spPr>
          <a:xfrm>
            <a:off x="548640" y="1325880"/>
            <a:ext cx="7772400" cy="548640"/>
          </a:xfrm>
          <a:prstGeom prst="rect">
            <a:avLst/>
          </a:prstGeom>
          <a:noFill/>
          <a:ln/>
        </p:spPr>
        <p:txBody>
          <a:bodyPr wrap="square" rtlCol="0" anchor="ctr"/>
          <a:lstStyle/>
          <a:p>
            <a:pPr marL="0" indent="0">
              <a:lnSpc>
                <a:spcPts val="1700"/>
              </a:lnSpc>
              <a:buNone/>
            </a:pPr>
            <a:r>
              <a:rPr lang="en-US" sz="1300" dirty="0">
                <a:solidFill>
                  <a:srgbClr val="5B6B7C"/>
                </a:solidFill>
                <a:latin typeface="Calibri" pitchFamily="34" charset="0"/>
                <a:ea typeface="Calibri" pitchFamily="34" charset="-122"/>
                <a:cs typeface="Calibri" pitchFamily="34" charset="-120"/>
              </a:rPr>
              <a:t>NewsBot detects language automatically, translates content, and compares how the same story is covered across regions and cultures.</a:t>
            </a:r>
            <a:endParaRPr lang="en-US" sz="1300" dirty="0"/>
          </a:p>
        </p:txBody>
      </p:sp>
      <p:sp>
        <p:nvSpPr>
          <p:cNvPr id="5" name="Shape 3"/>
          <p:cNvSpPr/>
          <p:nvPr/>
        </p:nvSpPr>
        <p:spPr>
          <a:xfrm>
            <a:off x="548640" y="2103120"/>
            <a:ext cx="11064240" cy="1143000"/>
          </a:xfrm>
          <a:prstGeom prst="roundRect">
            <a:avLst>
              <a:gd name="adj" fmla="val 6400"/>
            </a:avLst>
          </a:prstGeom>
          <a:solidFill>
            <a:srgbClr val="F4F7FA"/>
          </a:solidFill>
          <a:ln/>
        </p:spPr>
        <p:txBody>
          <a:bodyPr/>
          <a:lstStyle/>
          <a:p>
            <a:endParaRPr lang="th-TH"/>
          </a:p>
        </p:txBody>
      </p:sp>
      <p:sp>
        <p:nvSpPr>
          <p:cNvPr id="6" name="Shape 4"/>
          <p:cNvSpPr/>
          <p:nvPr/>
        </p:nvSpPr>
        <p:spPr>
          <a:xfrm>
            <a:off x="777240" y="2331720"/>
            <a:ext cx="685800" cy="685800"/>
          </a:xfrm>
          <a:prstGeom prst="ellipse">
            <a:avLst/>
          </a:prstGeom>
          <a:solidFill>
            <a:srgbClr val="1C7293"/>
          </a:solidFill>
          <a:ln/>
        </p:spPr>
        <p:txBody>
          <a:bodyPr/>
          <a:lstStyle/>
          <a:p>
            <a:endParaRPr lang="th-TH"/>
          </a:p>
        </p:txBody>
      </p:sp>
      <p:sp>
        <p:nvSpPr>
          <p:cNvPr id="7" name="Text 5"/>
          <p:cNvSpPr/>
          <p:nvPr/>
        </p:nvSpPr>
        <p:spPr>
          <a:xfrm>
            <a:off x="777240" y="2331720"/>
            <a:ext cx="685800" cy="6858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EN</a:t>
            </a:r>
            <a:endParaRPr lang="en-US" sz="1500" dirty="0"/>
          </a:p>
        </p:txBody>
      </p:sp>
      <p:sp>
        <p:nvSpPr>
          <p:cNvPr id="8" name="Text 6"/>
          <p:cNvSpPr/>
          <p:nvPr/>
        </p:nvSpPr>
        <p:spPr>
          <a:xfrm>
            <a:off x="1691640" y="2212848"/>
            <a:ext cx="146304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English</a:t>
            </a:r>
            <a:endParaRPr lang="en-US" sz="1300" dirty="0"/>
          </a:p>
        </p:txBody>
      </p:sp>
      <p:sp>
        <p:nvSpPr>
          <p:cNvPr id="9" name="Text 7"/>
          <p:cNvSpPr/>
          <p:nvPr/>
        </p:nvSpPr>
        <p:spPr>
          <a:xfrm>
            <a:off x="1691640" y="2578608"/>
            <a:ext cx="6675120" cy="548640"/>
          </a:xfrm>
          <a:prstGeom prst="rect">
            <a:avLst/>
          </a:prstGeom>
          <a:noFill/>
          <a:ln/>
        </p:spPr>
        <p:txBody>
          <a:bodyPr wrap="square" rtlCol="0" anchor="ctr"/>
          <a:lstStyle/>
          <a:p>
            <a:pPr marL="0" indent="0">
              <a:lnSpc>
                <a:spcPts val="1500"/>
              </a:lnSpc>
              <a:buNone/>
            </a:pPr>
            <a:r>
              <a:rPr lang="en-US" sz="1200" i="1" dirty="0">
                <a:solidFill>
                  <a:srgbClr val="1B2733"/>
                </a:solidFill>
                <a:latin typeface="Calibri" pitchFamily="34" charset="0"/>
                <a:ea typeface="Calibri" pitchFamily="34" charset="-122"/>
                <a:cs typeface="Calibri" pitchFamily="34" charset="-120"/>
              </a:rPr>
              <a:t>“Central Bank Raises Rates Amid Inflation Concerns”</a:t>
            </a:r>
            <a:endParaRPr lang="en-US" sz="1200" dirty="0"/>
          </a:p>
        </p:txBody>
      </p:sp>
      <p:sp>
        <p:nvSpPr>
          <p:cNvPr id="10" name="Text 8"/>
          <p:cNvSpPr/>
          <p:nvPr/>
        </p:nvSpPr>
        <p:spPr>
          <a:xfrm>
            <a:off x="8595360" y="2468880"/>
            <a:ext cx="2834640" cy="457200"/>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Neutral · Economic focus</a:t>
            </a:r>
            <a:endParaRPr lang="en-US" sz="1100" dirty="0"/>
          </a:p>
        </p:txBody>
      </p:sp>
      <p:sp>
        <p:nvSpPr>
          <p:cNvPr id="11" name="Shape 9"/>
          <p:cNvSpPr/>
          <p:nvPr/>
        </p:nvSpPr>
        <p:spPr>
          <a:xfrm>
            <a:off x="548640" y="3429000"/>
            <a:ext cx="11064240" cy="1143000"/>
          </a:xfrm>
          <a:prstGeom prst="roundRect">
            <a:avLst>
              <a:gd name="adj" fmla="val 6400"/>
            </a:avLst>
          </a:prstGeom>
          <a:solidFill>
            <a:srgbClr val="F4F7FA"/>
          </a:solidFill>
          <a:ln/>
        </p:spPr>
        <p:txBody>
          <a:bodyPr/>
          <a:lstStyle/>
          <a:p>
            <a:endParaRPr lang="th-TH"/>
          </a:p>
        </p:txBody>
      </p:sp>
      <p:sp>
        <p:nvSpPr>
          <p:cNvPr id="12" name="Shape 10"/>
          <p:cNvSpPr/>
          <p:nvPr/>
        </p:nvSpPr>
        <p:spPr>
          <a:xfrm>
            <a:off x="777240" y="3657600"/>
            <a:ext cx="685800" cy="685800"/>
          </a:xfrm>
          <a:prstGeom prst="ellipse">
            <a:avLst/>
          </a:prstGeom>
          <a:solidFill>
            <a:srgbClr val="1C7293"/>
          </a:solidFill>
          <a:ln/>
        </p:spPr>
        <p:txBody>
          <a:bodyPr/>
          <a:lstStyle/>
          <a:p>
            <a:endParaRPr lang="th-TH"/>
          </a:p>
        </p:txBody>
      </p:sp>
      <p:sp>
        <p:nvSpPr>
          <p:cNvPr id="13" name="Text 11"/>
          <p:cNvSpPr/>
          <p:nvPr/>
        </p:nvSpPr>
        <p:spPr>
          <a:xfrm>
            <a:off x="777240" y="3657600"/>
            <a:ext cx="685800" cy="6858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ES</a:t>
            </a:r>
            <a:endParaRPr lang="en-US" sz="1500" dirty="0"/>
          </a:p>
        </p:txBody>
      </p:sp>
      <p:sp>
        <p:nvSpPr>
          <p:cNvPr id="14" name="Text 12"/>
          <p:cNvSpPr/>
          <p:nvPr/>
        </p:nvSpPr>
        <p:spPr>
          <a:xfrm>
            <a:off x="1691640" y="3538728"/>
            <a:ext cx="146304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Spanish</a:t>
            </a:r>
            <a:endParaRPr lang="en-US" sz="1300" dirty="0"/>
          </a:p>
        </p:txBody>
      </p:sp>
      <p:sp>
        <p:nvSpPr>
          <p:cNvPr id="15" name="Text 13"/>
          <p:cNvSpPr/>
          <p:nvPr/>
        </p:nvSpPr>
        <p:spPr>
          <a:xfrm>
            <a:off x="1691640" y="3904488"/>
            <a:ext cx="6675120" cy="548640"/>
          </a:xfrm>
          <a:prstGeom prst="rect">
            <a:avLst/>
          </a:prstGeom>
          <a:noFill/>
          <a:ln/>
        </p:spPr>
        <p:txBody>
          <a:bodyPr wrap="square" rtlCol="0" anchor="ctr"/>
          <a:lstStyle/>
          <a:p>
            <a:pPr marL="0" indent="0">
              <a:lnSpc>
                <a:spcPts val="1500"/>
              </a:lnSpc>
              <a:buNone/>
            </a:pPr>
            <a:r>
              <a:rPr lang="en-US" sz="1200" i="1" dirty="0">
                <a:solidFill>
                  <a:srgbClr val="1B2733"/>
                </a:solidFill>
                <a:latin typeface="Calibri" pitchFamily="34" charset="0"/>
                <a:ea typeface="Calibri" pitchFamily="34" charset="-122"/>
                <a:cs typeface="Calibri" pitchFamily="34" charset="-120"/>
              </a:rPr>
              <a:t>“Banco Central Sube Tasas por Preocupaciones de Inflación”</a:t>
            </a:r>
            <a:endParaRPr lang="en-US" sz="1200" dirty="0"/>
          </a:p>
        </p:txBody>
      </p:sp>
      <p:sp>
        <p:nvSpPr>
          <p:cNvPr id="16" name="Text 14"/>
          <p:cNvSpPr/>
          <p:nvPr/>
        </p:nvSpPr>
        <p:spPr>
          <a:xfrm>
            <a:off x="8595360" y="3794760"/>
            <a:ext cx="2834640" cy="457200"/>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Neutral · Consumer impact framing</a:t>
            </a:r>
            <a:endParaRPr lang="en-US" sz="1100" dirty="0"/>
          </a:p>
        </p:txBody>
      </p:sp>
      <p:sp>
        <p:nvSpPr>
          <p:cNvPr id="17" name="Shape 15"/>
          <p:cNvSpPr/>
          <p:nvPr/>
        </p:nvSpPr>
        <p:spPr>
          <a:xfrm>
            <a:off x="548640" y="4754880"/>
            <a:ext cx="11064240" cy="1143000"/>
          </a:xfrm>
          <a:prstGeom prst="roundRect">
            <a:avLst>
              <a:gd name="adj" fmla="val 6400"/>
            </a:avLst>
          </a:prstGeom>
          <a:solidFill>
            <a:srgbClr val="F4F7FA"/>
          </a:solidFill>
          <a:ln/>
        </p:spPr>
        <p:txBody>
          <a:bodyPr/>
          <a:lstStyle/>
          <a:p>
            <a:endParaRPr lang="th-TH"/>
          </a:p>
        </p:txBody>
      </p:sp>
      <p:sp>
        <p:nvSpPr>
          <p:cNvPr id="18" name="Shape 16"/>
          <p:cNvSpPr/>
          <p:nvPr/>
        </p:nvSpPr>
        <p:spPr>
          <a:xfrm>
            <a:off x="777240" y="4983480"/>
            <a:ext cx="685800" cy="685800"/>
          </a:xfrm>
          <a:prstGeom prst="ellipse">
            <a:avLst/>
          </a:prstGeom>
          <a:solidFill>
            <a:srgbClr val="1C7293"/>
          </a:solidFill>
          <a:ln/>
        </p:spPr>
        <p:txBody>
          <a:bodyPr/>
          <a:lstStyle/>
          <a:p>
            <a:endParaRPr lang="th-TH"/>
          </a:p>
        </p:txBody>
      </p:sp>
      <p:sp>
        <p:nvSpPr>
          <p:cNvPr id="19" name="Text 17"/>
          <p:cNvSpPr/>
          <p:nvPr/>
        </p:nvSpPr>
        <p:spPr>
          <a:xfrm>
            <a:off x="777240" y="4983480"/>
            <a:ext cx="685800" cy="6858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FR</a:t>
            </a:r>
            <a:endParaRPr lang="en-US" sz="1500" dirty="0"/>
          </a:p>
        </p:txBody>
      </p:sp>
      <p:sp>
        <p:nvSpPr>
          <p:cNvPr id="20" name="Text 18"/>
          <p:cNvSpPr/>
          <p:nvPr/>
        </p:nvSpPr>
        <p:spPr>
          <a:xfrm>
            <a:off x="1691640" y="4864608"/>
            <a:ext cx="146304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French</a:t>
            </a:r>
            <a:endParaRPr lang="en-US" sz="1300" dirty="0"/>
          </a:p>
        </p:txBody>
      </p:sp>
      <p:sp>
        <p:nvSpPr>
          <p:cNvPr id="21" name="Text 19"/>
          <p:cNvSpPr/>
          <p:nvPr/>
        </p:nvSpPr>
        <p:spPr>
          <a:xfrm>
            <a:off x="1691640" y="5230368"/>
            <a:ext cx="6675120" cy="548640"/>
          </a:xfrm>
          <a:prstGeom prst="rect">
            <a:avLst/>
          </a:prstGeom>
          <a:noFill/>
          <a:ln/>
        </p:spPr>
        <p:txBody>
          <a:bodyPr wrap="square" rtlCol="0" anchor="ctr"/>
          <a:lstStyle/>
          <a:p>
            <a:pPr marL="0" indent="0">
              <a:lnSpc>
                <a:spcPts val="1500"/>
              </a:lnSpc>
              <a:buNone/>
            </a:pPr>
            <a:r>
              <a:rPr lang="en-US" sz="1200" i="1" dirty="0">
                <a:solidFill>
                  <a:srgbClr val="1B2733"/>
                </a:solidFill>
                <a:latin typeface="Calibri" pitchFamily="34" charset="0"/>
                <a:ea typeface="Calibri" pitchFamily="34" charset="-122"/>
                <a:cs typeface="Calibri" pitchFamily="34" charset="-120"/>
              </a:rPr>
              <a:t>“La Banque Centrale Augmente ses Taux Face à l'Inflation”</a:t>
            </a:r>
            <a:endParaRPr lang="en-US" sz="1200" dirty="0"/>
          </a:p>
        </p:txBody>
      </p:sp>
      <p:sp>
        <p:nvSpPr>
          <p:cNvPr id="22" name="Text 20"/>
          <p:cNvSpPr/>
          <p:nvPr/>
        </p:nvSpPr>
        <p:spPr>
          <a:xfrm>
            <a:off x="8595360" y="5120640"/>
            <a:ext cx="2834640" cy="457200"/>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Slightly negative · Policy criticism</a:t>
            </a:r>
            <a:endParaRPr lang="en-US" sz="1100" dirty="0"/>
          </a:p>
        </p:txBody>
      </p:sp>
      <p:sp>
        <p:nvSpPr>
          <p:cNvPr id="23"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MODULE D · CONVERSATIONAL INTERFACE</a:t>
            </a:r>
            <a:endParaRPr lang="en-US" sz="1200" dirty="0"/>
          </a:p>
        </p:txBody>
      </p:sp>
      <p:sp>
        <p:nvSpPr>
          <p:cNvPr id="3" name="Text 1"/>
          <p:cNvSpPr/>
          <p:nvPr/>
        </p:nvSpPr>
        <p:spPr>
          <a:xfrm>
            <a:off x="548640" y="685800"/>
            <a:ext cx="82296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Ask NewsBot in Plain English</a:t>
            </a:r>
            <a:endParaRPr lang="en-US" sz="2800" dirty="0"/>
          </a:p>
        </p:txBody>
      </p:sp>
      <p:sp>
        <p:nvSpPr>
          <p:cNvPr id="4" name="Text 2"/>
          <p:cNvSpPr/>
          <p:nvPr/>
        </p:nvSpPr>
        <p:spPr>
          <a:xfrm>
            <a:off x="548640" y="1325880"/>
            <a:ext cx="6035040" cy="822960"/>
          </a:xfrm>
          <a:prstGeom prst="rect">
            <a:avLst/>
          </a:prstGeom>
          <a:noFill/>
          <a:ln/>
        </p:spPr>
        <p:txBody>
          <a:bodyPr wrap="square" rtlCol="0" anchor="ctr"/>
          <a:lstStyle/>
          <a:p>
            <a:pPr marL="0" indent="0">
              <a:lnSpc>
                <a:spcPts val="1700"/>
              </a:lnSpc>
              <a:buNone/>
            </a:pPr>
            <a:r>
              <a:rPr lang="en-US" sz="1300" dirty="0">
                <a:solidFill>
                  <a:srgbClr val="5B6B7C"/>
                </a:solidFill>
                <a:latin typeface="Calibri" pitchFamily="34" charset="0"/>
                <a:ea typeface="Calibri" pitchFamily="34" charset="-122"/>
                <a:cs typeface="Calibri" pitchFamily="34" charset="-120"/>
              </a:rPr>
              <a:t>Intent classification and query parsing let users explore the news corpus conversationally — no filters or dashboards required.</a:t>
            </a:r>
            <a:endParaRPr lang="en-US" sz="1300" dirty="0"/>
          </a:p>
        </p:txBody>
      </p:sp>
      <p:sp>
        <p:nvSpPr>
          <p:cNvPr id="5" name="Shape 3"/>
          <p:cNvSpPr/>
          <p:nvPr/>
        </p:nvSpPr>
        <p:spPr>
          <a:xfrm>
            <a:off x="594360" y="2395728"/>
            <a:ext cx="320040" cy="320040"/>
          </a:xfrm>
          <a:prstGeom prst="ellipse">
            <a:avLst/>
          </a:prstGeom>
          <a:solidFill>
            <a:srgbClr val="E8A33D"/>
          </a:solidFill>
          <a:ln/>
        </p:spPr>
        <p:txBody>
          <a:bodyPr/>
          <a:lstStyle/>
          <a:p>
            <a:endParaRPr lang="th-TH"/>
          </a:p>
        </p:txBody>
      </p:sp>
      <p:sp>
        <p:nvSpPr>
          <p:cNvPr id="6" name="Text 4"/>
          <p:cNvSpPr/>
          <p:nvPr/>
        </p:nvSpPr>
        <p:spPr>
          <a:xfrm>
            <a:off x="1051560" y="2377440"/>
            <a:ext cx="1554480" cy="36576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Search</a:t>
            </a:r>
            <a:endParaRPr lang="en-US" sz="1300" dirty="0"/>
          </a:p>
        </p:txBody>
      </p:sp>
      <p:sp>
        <p:nvSpPr>
          <p:cNvPr id="7" name="Text 5"/>
          <p:cNvSpPr/>
          <p:nvPr/>
        </p:nvSpPr>
        <p:spPr>
          <a:xfrm>
            <a:off x="1051560" y="2706624"/>
            <a:ext cx="5303520" cy="365760"/>
          </a:xfrm>
          <a:prstGeom prst="rect">
            <a:avLst/>
          </a:prstGeom>
          <a:noFill/>
          <a:ln/>
        </p:spPr>
        <p:txBody>
          <a:bodyPr wrap="square" rtlCol="0" anchor="ctr"/>
          <a:lstStyle/>
          <a:p>
            <a:pPr marL="0" indent="0">
              <a:buNone/>
            </a:pPr>
            <a:r>
              <a:rPr lang="en-US" sz="1200" i="1" dirty="0">
                <a:solidFill>
                  <a:srgbClr val="1B2733"/>
                </a:solidFill>
                <a:latin typeface="Calibri" pitchFamily="34" charset="0"/>
                <a:ea typeface="Calibri" pitchFamily="34" charset="-122"/>
                <a:cs typeface="Calibri" pitchFamily="34" charset="-120"/>
              </a:rPr>
              <a:t>“Show me positive tech news from this week”</a:t>
            </a:r>
            <a:endParaRPr lang="en-US" sz="1200" dirty="0"/>
          </a:p>
        </p:txBody>
      </p:sp>
      <p:sp>
        <p:nvSpPr>
          <p:cNvPr id="8" name="Shape 6"/>
          <p:cNvSpPr/>
          <p:nvPr/>
        </p:nvSpPr>
        <p:spPr>
          <a:xfrm>
            <a:off x="594360" y="3172968"/>
            <a:ext cx="320040" cy="320040"/>
          </a:xfrm>
          <a:prstGeom prst="ellipse">
            <a:avLst/>
          </a:prstGeom>
          <a:solidFill>
            <a:srgbClr val="E8A33D"/>
          </a:solidFill>
          <a:ln/>
        </p:spPr>
        <p:txBody>
          <a:bodyPr/>
          <a:lstStyle/>
          <a:p>
            <a:endParaRPr lang="th-TH"/>
          </a:p>
        </p:txBody>
      </p:sp>
      <p:sp>
        <p:nvSpPr>
          <p:cNvPr id="9" name="Text 7"/>
          <p:cNvSpPr/>
          <p:nvPr/>
        </p:nvSpPr>
        <p:spPr>
          <a:xfrm>
            <a:off x="1051560" y="3154680"/>
            <a:ext cx="1554480" cy="36576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Compare</a:t>
            </a:r>
            <a:endParaRPr lang="en-US" sz="1300" dirty="0"/>
          </a:p>
        </p:txBody>
      </p:sp>
      <p:sp>
        <p:nvSpPr>
          <p:cNvPr id="10" name="Text 8"/>
          <p:cNvSpPr/>
          <p:nvPr/>
        </p:nvSpPr>
        <p:spPr>
          <a:xfrm>
            <a:off x="1051560" y="3483864"/>
            <a:ext cx="5303520" cy="365760"/>
          </a:xfrm>
          <a:prstGeom prst="rect">
            <a:avLst/>
          </a:prstGeom>
          <a:noFill/>
          <a:ln/>
        </p:spPr>
        <p:txBody>
          <a:bodyPr wrap="square" rtlCol="0" anchor="ctr"/>
          <a:lstStyle/>
          <a:p>
            <a:pPr marL="0" indent="0">
              <a:buNone/>
            </a:pPr>
            <a:r>
              <a:rPr lang="en-US" sz="1200" i="1" dirty="0">
                <a:solidFill>
                  <a:srgbClr val="1B2733"/>
                </a:solidFill>
                <a:latin typeface="Calibri" pitchFamily="34" charset="0"/>
                <a:ea typeface="Calibri" pitchFamily="34" charset="-122"/>
                <a:cs typeface="Calibri" pitchFamily="34" charset="-120"/>
              </a:rPr>
              <a:t>“How does coverage of the election differ by region?”</a:t>
            </a:r>
            <a:endParaRPr lang="en-US" sz="1200" dirty="0"/>
          </a:p>
        </p:txBody>
      </p:sp>
      <p:sp>
        <p:nvSpPr>
          <p:cNvPr id="11" name="Shape 9"/>
          <p:cNvSpPr/>
          <p:nvPr/>
        </p:nvSpPr>
        <p:spPr>
          <a:xfrm>
            <a:off x="594360" y="3950208"/>
            <a:ext cx="320040" cy="320040"/>
          </a:xfrm>
          <a:prstGeom prst="ellipse">
            <a:avLst/>
          </a:prstGeom>
          <a:solidFill>
            <a:srgbClr val="E8A33D"/>
          </a:solidFill>
          <a:ln/>
        </p:spPr>
        <p:txBody>
          <a:bodyPr/>
          <a:lstStyle/>
          <a:p>
            <a:endParaRPr lang="th-TH"/>
          </a:p>
        </p:txBody>
      </p:sp>
      <p:sp>
        <p:nvSpPr>
          <p:cNvPr id="12" name="Text 10"/>
          <p:cNvSpPr/>
          <p:nvPr/>
        </p:nvSpPr>
        <p:spPr>
          <a:xfrm>
            <a:off x="1051560" y="3931920"/>
            <a:ext cx="1554480" cy="36576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Summarize</a:t>
            </a:r>
            <a:endParaRPr lang="en-US" sz="1300" dirty="0"/>
          </a:p>
        </p:txBody>
      </p:sp>
      <p:sp>
        <p:nvSpPr>
          <p:cNvPr id="13" name="Text 11"/>
          <p:cNvSpPr/>
          <p:nvPr/>
        </p:nvSpPr>
        <p:spPr>
          <a:xfrm>
            <a:off x="1051560" y="4261104"/>
            <a:ext cx="5303520" cy="365760"/>
          </a:xfrm>
          <a:prstGeom prst="rect">
            <a:avLst/>
          </a:prstGeom>
          <a:noFill/>
          <a:ln/>
        </p:spPr>
        <p:txBody>
          <a:bodyPr wrap="square" rtlCol="0" anchor="ctr"/>
          <a:lstStyle/>
          <a:p>
            <a:pPr marL="0" indent="0">
              <a:buNone/>
            </a:pPr>
            <a:r>
              <a:rPr lang="en-US" sz="1200" i="1" dirty="0">
                <a:solidFill>
                  <a:srgbClr val="1B2733"/>
                </a:solidFill>
                <a:latin typeface="Calibri" pitchFamily="34" charset="0"/>
                <a:ea typeface="Calibri" pitchFamily="34" charset="-122"/>
                <a:cs typeface="Calibri" pitchFamily="34" charset="-120"/>
              </a:rPr>
              <a:t>“Give me a quick summary of the top 3 business stories”</a:t>
            </a:r>
            <a:endParaRPr lang="en-US" sz="1200" dirty="0"/>
          </a:p>
        </p:txBody>
      </p:sp>
      <p:sp>
        <p:nvSpPr>
          <p:cNvPr id="14" name="Shape 12"/>
          <p:cNvSpPr/>
          <p:nvPr/>
        </p:nvSpPr>
        <p:spPr>
          <a:xfrm>
            <a:off x="7040880" y="1371600"/>
            <a:ext cx="4480560" cy="4754880"/>
          </a:xfrm>
          <a:prstGeom prst="roundRect">
            <a:avLst>
              <a:gd name="adj" fmla="val 3061"/>
            </a:avLst>
          </a:prstGeom>
          <a:solidFill>
            <a:srgbClr val="FFFFFF"/>
          </a:solidFill>
          <a:ln w="19050">
            <a:solidFill>
              <a:srgbClr val="CADCFC"/>
            </a:solidFill>
            <a:prstDash val="solid"/>
          </a:ln>
          <a:effectLst>
            <a:outerShdw blurRad="127000" dist="38100" dir="5400000" algn="bl" rotWithShape="0">
              <a:srgbClr val="999999">
                <a:alpha val="30000"/>
              </a:srgbClr>
            </a:outerShdw>
          </a:effectLst>
        </p:spPr>
        <p:txBody>
          <a:bodyPr/>
          <a:lstStyle/>
          <a:p>
            <a:endParaRPr lang="th-TH"/>
          </a:p>
        </p:txBody>
      </p:sp>
      <p:sp>
        <p:nvSpPr>
          <p:cNvPr id="15" name="Shape 13"/>
          <p:cNvSpPr/>
          <p:nvPr/>
        </p:nvSpPr>
        <p:spPr>
          <a:xfrm>
            <a:off x="7040880" y="1371600"/>
            <a:ext cx="4480560" cy="548640"/>
          </a:xfrm>
          <a:prstGeom prst="roundRect">
            <a:avLst>
              <a:gd name="adj" fmla="val 25000"/>
            </a:avLst>
          </a:prstGeom>
          <a:solidFill>
            <a:srgbClr val="0B2545"/>
          </a:solidFill>
          <a:ln/>
        </p:spPr>
        <p:txBody>
          <a:bodyPr/>
          <a:lstStyle/>
          <a:p>
            <a:endParaRPr lang="th-TH"/>
          </a:p>
        </p:txBody>
      </p:sp>
      <p:sp>
        <p:nvSpPr>
          <p:cNvPr id="16" name="Text 14"/>
          <p:cNvSpPr/>
          <p:nvPr/>
        </p:nvSpPr>
        <p:spPr>
          <a:xfrm>
            <a:off x="7315200" y="1371600"/>
            <a:ext cx="3840480" cy="5486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NewsBot Assistant</a:t>
            </a:r>
            <a:endParaRPr lang="en-US" sz="1300" dirty="0"/>
          </a:p>
        </p:txBody>
      </p:sp>
      <p:sp>
        <p:nvSpPr>
          <p:cNvPr id="17" name="Shape 15"/>
          <p:cNvSpPr/>
          <p:nvPr/>
        </p:nvSpPr>
        <p:spPr>
          <a:xfrm>
            <a:off x="8503920" y="2148840"/>
            <a:ext cx="2834640" cy="502920"/>
          </a:xfrm>
          <a:prstGeom prst="roundRect">
            <a:avLst>
              <a:gd name="adj" fmla="val 21818"/>
            </a:avLst>
          </a:prstGeom>
          <a:solidFill>
            <a:srgbClr val="1C7293"/>
          </a:solidFill>
          <a:ln/>
        </p:spPr>
        <p:txBody>
          <a:bodyPr/>
          <a:lstStyle/>
          <a:p>
            <a:endParaRPr lang="th-TH"/>
          </a:p>
        </p:txBody>
      </p:sp>
      <p:sp>
        <p:nvSpPr>
          <p:cNvPr id="18" name="Text 16"/>
          <p:cNvSpPr/>
          <p:nvPr/>
        </p:nvSpPr>
        <p:spPr>
          <a:xfrm>
            <a:off x="8595360" y="2148840"/>
            <a:ext cx="2697480" cy="502920"/>
          </a:xfrm>
          <a:prstGeom prst="rect">
            <a:avLst/>
          </a:prstGeom>
          <a:noFill/>
          <a:ln/>
        </p:spPr>
        <p:txBody>
          <a:bodyPr wrap="square"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Positive tech news this week?</a:t>
            </a:r>
            <a:endParaRPr lang="en-US" sz="1050" dirty="0"/>
          </a:p>
        </p:txBody>
      </p:sp>
      <p:sp>
        <p:nvSpPr>
          <p:cNvPr id="19" name="Shape 17"/>
          <p:cNvSpPr/>
          <p:nvPr/>
        </p:nvSpPr>
        <p:spPr>
          <a:xfrm>
            <a:off x="7223760" y="2834640"/>
            <a:ext cx="3291840" cy="960120"/>
          </a:xfrm>
          <a:prstGeom prst="roundRect">
            <a:avLst>
              <a:gd name="adj" fmla="val 11429"/>
            </a:avLst>
          </a:prstGeom>
          <a:solidFill>
            <a:srgbClr val="F4F7FA"/>
          </a:solidFill>
          <a:ln/>
        </p:spPr>
        <p:txBody>
          <a:bodyPr/>
          <a:lstStyle/>
          <a:p>
            <a:endParaRPr lang="th-TH"/>
          </a:p>
        </p:txBody>
      </p:sp>
      <p:sp>
        <p:nvSpPr>
          <p:cNvPr id="20" name="Text 18"/>
          <p:cNvSpPr/>
          <p:nvPr/>
        </p:nvSpPr>
        <p:spPr>
          <a:xfrm>
            <a:off x="7360920" y="2880360"/>
            <a:ext cx="3017520" cy="868680"/>
          </a:xfrm>
          <a:prstGeom prst="rect">
            <a:avLst/>
          </a:prstGeom>
          <a:noFill/>
          <a:ln/>
        </p:spPr>
        <p:txBody>
          <a:bodyPr wrap="square" rtlCol="0" anchor="ctr"/>
          <a:lstStyle/>
          <a:p>
            <a:pPr marL="0" indent="0">
              <a:lnSpc>
                <a:spcPts val="1300"/>
              </a:lnSpc>
              <a:buNone/>
            </a:pPr>
            <a:r>
              <a:rPr lang="en-US" sz="1000" dirty="0">
                <a:solidFill>
                  <a:srgbClr val="1B2733"/>
                </a:solidFill>
                <a:latin typeface="Calibri" pitchFamily="34" charset="0"/>
                <a:ea typeface="Calibri" pitchFamily="34" charset="-122"/>
                <a:cs typeface="Calibri" pitchFamily="34" charset="-120"/>
              </a:rPr>
              <a:t>Found 12 articles. Top story: “AI Startup Raises $50M Series B” — sentiment: strongly positive.</a:t>
            </a:r>
            <a:endParaRPr lang="en-US" sz="1000" dirty="0"/>
          </a:p>
        </p:txBody>
      </p:sp>
      <p:sp>
        <p:nvSpPr>
          <p:cNvPr id="21" name="Shape 19"/>
          <p:cNvSpPr/>
          <p:nvPr/>
        </p:nvSpPr>
        <p:spPr>
          <a:xfrm>
            <a:off x="8686800" y="3977640"/>
            <a:ext cx="2651760" cy="502920"/>
          </a:xfrm>
          <a:prstGeom prst="roundRect">
            <a:avLst>
              <a:gd name="adj" fmla="val 21818"/>
            </a:avLst>
          </a:prstGeom>
          <a:solidFill>
            <a:srgbClr val="1C7293"/>
          </a:solidFill>
          <a:ln/>
        </p:spPr>
        <p:txBody>
          <a:bodyPr/>
          <a:lstStyle/>
          <a:p>
            <a:endParaRPr lang="th-TH"/>
          </a:p>
        </p:txBody>
      </p:sp>
      <p:sp>
        <p:nvSpPr>
          <p:cNvPr id="22" name="Text 20"/>
          <p:cNvSpPr/>
          <p:nvPr/>
        </p:nvSpPr>
        <p:spPr>
          <a:xfrm>
            <a:off x="8778240" y="3977640"/>
            <a:ext cx="251460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Summarize the top one</a:t>
            </a:r>
            <a:endParaRPr lang="en-US" sz="1050" dirty="0"/>
          </a:p>
        </p:txBody>
      </p:sp>
      <p:sp>
        <p:nvSpPr>
          <p:cNvPr id="23" name="Shape 21"/>
          <p:cNvSpPr/>
          <p:nvPr/>
        </p:nvSpPr>
        <p:spPr>
          <a:xfrm>
            <a:off x="7223760" y="4663440"/>
            <a:ext cx="3383280" cy="1005840"/>
          </a:xfrm>
          <a:prstGeom prst="roundRect">
            <a:avLst>
              <a:gd name="adj" fmla="val 10909"/>
            </a:avLst>
          </a:prstGeom>
          <a:solidFill>
            <a:srgbClr val="F4F7FA"/>
          </a:solidFill>
          <a:ln/>
        </p:spPr>
        <p:txBody>
          <a:bodyPr/>
          <a:lstStyle/>
          <a:p>
            <a:endParaRPr lang="th-TH"/>
          </a:p>
        </p:txBody>
      </p:sp>
      <p:sp>
        <p:nvSpPr>
          <p:cNvPr id="24" name="Text 22"/>
          <p:cNvSpPr/>
          <p:nvPr/>
        </p:nvSpPr>
        <p:spPr>
          <a:xfrm>
            <a:off x="7360920" y="4709160"/>
            <a:ext cx="3108960" cy="914400"/>
          </a:xfrm>
          <a:prstGeom prst="rect">
            <a:avLst/>
          </a:prstGeom>
          <a:noFill/>
          <a:ln/>
        </p:spPr>
        <p:txBody>
          <a:bodyPr wrap="square" rtlCol="0" anchor="ctr"/>
          <a:lstStyle/>
          <a:p>
            <a:pPr marL="0" indent="0">
              <a:lnSpc>
                <a:spcPts val="1200"/>
              </a:lnSpc>
              <a:buNone/>
            </a:pPr>
            <a:r>
              <a:rPr lang="en-US" sz="950" dirty="0">
                <a:solidFill>
                  <a:srgbClr val="1B2733"/>
                </a:solidFill>
                <a:latin typeface="Calibri" pitchFamily="34" charset="0"/>
                <a:ea typeface="Calibri" pitchFamily="34" charset="-122"/>
                <a:cs typeface="Calibri" pitchFamily="34" charset="-120"/>
              </a:rPr>
              <a:t>A local AI startup secured $50M to expand its enterprise automation tools, citing strong demand and new hires planned for Q1.</a:t>
            </a:r>
            <a:endParaRPr lang="en-US" sz="950" dirty="0"/>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Integration, Testing &amp; Reliability</a:t>
            </a:r>
            <a:endParaRPr lang="en-US" sz="2800" dirty="0"/>
          </a:p>
        </p:txBody>
      </p:sp>
      <p:sp>
        <p:nvSpPr>
          <p:cNvPr id="4" name="Text 2"/>
          <p:cNvSpPr/>
          <p:nvPr/>
        </p:nvSpPr>
        <p:spPr>
          <a:xfrm>
            <a:off x="548640" y="1325880"/>
            <a:ext cx="7772400" cy="5486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All modules are orchestrated through a single integrated system with graceful fallback, so one component's failure never takes down the rest.</a:t>
            </a:r>
            <a:endParaRPr lang="en-US" sz="1300" dirty="0"/>
          </a:p>
        </p:txBody>
      </p:sp>
      <p:sp>
        <p:nvSpPr>
          <p:cNvPr id="5" name="Shape 3"/>
          <p:cNvSpPr/>
          <p:nvPr/>
        </p:nvSpPr>
        <p:spPr>
          <a:xfrm>
            <a:off x="548640" y="2468880"/>
            <a:ext cx="2651760" cy="2011680"/>
          </a:xfrm>
          <a:prstGeom prst="roundRect">
            <a:avLst>
              <a:gd name="adj" fmla="val 4545"/>
            </a:avLst>
          </a:prstGeom>
          <a:solidFill>
            <a:srgbClr val="081A33"/>
          </a:solidFill>
          <a:ln w="12700">
            <a:solidFill>
              <a:srgbClr val="1C7293"/>
            </a:solidFill>
            <a:prstDash val="solid"/>
          </a:ln>
        </p:spPr>
        <p:txBody>
          <a:bodyPr/>
          <a:lstStyle/>
          <a:p>
            <a:endParaRPr lang="th-TH"/>
          </a:p>
        </p:txBody>
      </p:sp>
      <p:sp>
        <p:nvSpPr>
          <p:cNvPr id="6" name="Text 4"/>
          <p:cNvSpPr/>
          <p:nvPr/>
        </p:nvSpPr>
        <p:spPr>
          <a:xfrm>
            <a:off x="777240" y="2651760"/>
            <a:ext cx="1371600" cy="548640"/>
          </a:xfrm>
          <a:prstGeom prst="rect">
            <a:avLst/>
          </a:prstGeom>
          <a:noFill/>
          <a:ln/>
        </p:spPr>
        <p:txBody>
          <a:bodyPr wrap="square"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777240" y="3291840"/>
            <a:ext cx="2194560" cy="10515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Component-level unit tests</a:t>
            </a:r>
            <a:endParaRPr lang="en-US" sz="1250" dirty="0"/>
          </a:p>
        </p:txBody>
      </p:sp>
      <p:sp>
        <p:nvSpPr>
          <p:cNvPr id="8" name="Shape 6"/>
          <p:cNvSpPr/>
          <p:nvPr/>
        </p:nvSpPr>
        <p:spPr>
          <a:xfrm>
            <a:off x="3246120" y="3474720"/>
            <a:ext cx="182880" cy="0"/>
          </a:xfrm>
          <a:prstGeom prst="line">
            <a:avLst/>
          </a:prstGeom>
          <a:noFill/>
          <a:ln w="19050">
            <a:solidFill>
              <a:srgbClr val="E8A33D"/>
            </a:solidFill>
            <a:prstDash val="solid"/>
            <a:tailEnd type="triangle"/>
          </a:ln>
        </p:spPr>
        <p:txBody>
          <a:bodyPr/>
          <a:lstStyle/>
          <a:p>
            <a:endParaRPr lang="th-TH"/>
          </a:p>
        </p:txBody>
      </p:sp>
      <p:sp>
        <p:nvSpPr>
          <p:cNvPr id="9" name="Shape 7"/>
          <p:cNvSpPr/>
          <p:nvPr/>
        </p:nvSpPr>
        <p:spPr>
          <a:xfrm>
            <a:off x="3429000" y="2468880"/>
            <a:ext cx="2651760" cy="2011680"/>
          </a:xfrm>
          <a:prstGeom prst="roundRect">
            <a:avLst>
              <a:gd name="adj" fmla="val 4545"/>
            </a:avLst>
          </a:prstGeom>
          <a:solidFill>
            <a:srgbClr val="081A33"/>
          </a:solidFill>
          <a:ln w="12700">
            <a:solidFill>
              <a:srgbClr val="1C7293"/>
            </a:solidFill>
            <a:prstDash val="solid"/>
          </a:ln>
        </p:spPr>
        <p:txBody>
          <a:bodyPr/>
          <a:lstStyle/>
          <a:p>
            <a:endParaRPr lang="th-TH"/>
          </a:p>
        </p:txBody>
      </p:sp>
      <p:sp>
        <p:nvSpPr>
          <p:cNvPr id="10" name="Text 8"/>
          <p:cNvSpPr/>
          <p:nvPr/>
        </p:nvSpPr>
        <p:spPr>
          <a:xfrm>
            <a:off x="3657600" y="2651760"/>
            <a:ext cx="1371600" cy="548640"/>
          </a:xfrm>
          <a:prstGeom prst="rect">
            <a:avLst/>
          </a:prstGeom>
          <a:noFill/>
          <a:ln/>
        </p:spPr>
        <p:txBody>
          <a:bodyPr wrap="square"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3657600" y="3291840"/>
            <a:ext cx="2194560" cy="10515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Safe initialization with fallback handling</a:t>
            </a:r>
            <a:endParaRPr lang="en-US" sz="1250" dirty="0"/>
          </a:p>
        </p:txBody>
      </p:sp>
      <p:sp>
        <p:nvSpPr>
          <p:cNvPr id="12" name="Shape 10"/>
          <p:cNvSpPr/>
          <p:nvPr/>
        </p:nvSpPr>
        <p:spPr>
          <a:xfrm>
            <a:off x="6126480" y="3474720"/>
            <a:ext cx="182880" cy="0"/>
          </a:xfrm>
          <a:prstGeom prst="line">
            <a:avLst/>
          </a:prstGeom>
          <a:noFill/>
          <a:ln w="19050">
            <a:solidFill>
              <a:srgbClr val="E8A33D"/>
            </a:solidFill>
            <a:prstDash val="solid"/>
            <a:tailEnd type="triangle"/>
          </a:ln>
        </p:spPr>
        <p:txBody>
          <a:bodyPr/>
          <a:lstStyle/>
          <a:p>
            <a:endParaRPr lang="th-TH"/>
          </a:p>
        </p:txBody>
      </p:sp>
      <p:sp>
        <p:nvSpPr>
          <p:cNvPr id="13" name="Shape 11"/>
          <p:cNvSpPr/>
          <p:nvPr/>
        </p:nvSpPr>
        <p:spPr>
          <a:xfrm>
            <a:off x="6309360" y="2468880"/>
            <a:ext cx="2651760" cy="2011680"/>
          </a:xfrm>
          <a:prstGeom prst="roundRect">
            <a:avLst>
              <a:gd name="adj" fmla="val 4545"/>
            </a:avLst>
          </a:prstGeom>
          <a:solidFill>
            <a:srgbClr val="081A33"/>
          </a:solidFill>
          <a:ln w="12700">
            <a:solidFill>
              <a:srgbClr val="1C7293"/>
            </a:solidFill>
            <a:prstDash val="solid"/>
          </a:ln>
        </p:spPr>
        <p:txBody>
          <a:bodyPr/>
          <a:lstStyle/>
          <a:p>
            <a:endParaRPr lang="th-TH"/>
          </a:p>
        </p:txBody>
      </p:sp>
      <p:sp>
        <p:nvSpPr>
          <p:cNvPr id="14" name="Text 12"/>
          <p:cNvSpPr/>
          <p:nvPr/>
        </p:nvSpPr>
        <p:spPr>
          <a:xfrm>
            <a:off x="6537960" y="2651760"/>
            <a:ext cx="1371600" cy="548640"/>
          </a:xfrm>
          <a:prstGeom prst="rect">
            <a:avLst/>
          </a:prstGeom>
          <a:noFill/>
          <a:ln/>
        </p:spPr>
        <p:txBody>
          <a:bodyPr wrap="square"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03</a:t>
            </a:r>
            <a:endParaRPr lang="en-US" sz="2600" dirty="0"/>
          </a:p>
        </p:txBody>
      </p:sp>
      <p:sp>
        <p:nvSpPr>
          <p:cNvPr id="15" name="Text 13"/>
          <p:cNvSpPr/>
          <p:nvPr/>
        </p:nvSpPr>
        <p:spPr>
          <a:xfrm>
            <a:off x="6537960" y="3291840"/>
            <a:ext cx="2194560" cy="10515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End-to-end integration tests</a:t>
            </a:r>
            <a:endParaRPr lang="en-US" sz="1250" dirty="0"/>
          </a:p>
        </p:txBody>
      </p:sp>
      <p:sp>
        <p:nvSpPr>
          <p:cNvPr id="16" name="Shape 14"/>
          <p:cNvSpPr/>
          <p:nvPr/>
        </p:nvSpPr>
        <p:spPr>
          <a:xfrm>
            <a:off x="9006840" y="3474720"/>
            <a:ext cx="182880" cy="0"/>
          </a:xfrm>
          <a:prstGeom prst="line">
            <a:avLst/>
          </a:prstGeom>
          <a:noFill/>
          <a:ln w="19050">
            <a:solidFill>
              <a:srgbClr val="E8A33D"/>
            </a:solidFill>
            <a:prstDash val="solid"/>
            <a:tailEnd type="triangle"/>
          </a:ln>
        </p:spPr>
        <p:txBody>
          <a:bodyPr/>
          <a:lstStyle/>
          <a:p>
            <a:endParaRPr lang="th-TH"/>
          </a:p>
        </p:txBody>
      </p:sp>
      <p:sp>
        <p:nvSpPr>
          <p:cNvPr id="17" name="Shape 15"/>
          <p:cNvSpPr/>
          <p:nvPr/>
        </p:nvSpPr>
        <p:spPr>
          <a:xfrm>
            <a:off x="9189720" y="2468880"/>
            <a:ext cx="2651760" cy="2011680"/>
          </a:xfrm>
          <a:prstGeom prst="roundRect">
            <a:avLst>
              <a:gd name="adj" fmla="val 4545"/>
            </a:avLst>
          </a:prstGeom>
          <a:solidFill>
            <a:srgbClr val="081A33"/>
          </a:solidFill>
          <a:ln w="12700">
            <a:solidFill>
              <a:srgbClr val="1C7293"/>
            </a:solidFill>
            <a:prstDash val="solid"/>
          </a:ln>
        </p:spPr>
        <p:txBody>
          <a:bodyPr/>
          <a:lstStyle/>
          <a:p>
            <a:endParaRPr lang="th-TH"/>
          </a:p>
        </p:txBody>
      </p:sp>
      <p:sp>
        <p:nvSpPr>
          <p:cNvPr id="18" name="Text 16"/>
          <p:cNvSpPr/>
          <p:nvPr/>
        </p:nvSpPr>
        <p:spPr>
          <a:xfrm>
            <a:off x="9418320" y="2651760"/>
            <a:ext cx="1371600" cy="548640"/>
          </a:xfrm>
          <a:prstGeom prst="rect">
            <a:avLst/>
          </a:prstGeom>
          <a:noFill/>
          <a:ln/>
        </p:spPr>
        <p:txBody>
          <a:bodyPr wrap="square"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04</a:t>
            </a:r>
            <a:endParaRPr lang="en-US" sz="2600" dirty="0"/>
          </a:p>
        </p:txBody>
      </p:sp>
      <p:sp>
        <p:nvSpPr>
          <p:cNvPr id="19" name="Text 17"/>
          <p:cNvSpPr/>
          <p:nvPr/>
        </p:nvSpPr>
        <p:spPr>
          <a:xfrm>
            <a:off x="9418320" y="3291840"/>
            <a:ext cx="2194560" cy="10515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Runtime &amp; memory profiling</a:t>
            </a:r>
            <a:endParaRPr lang="en-US" sz="1250" dirty="0"/>
          </a:p>
        </p:txBody>
      </p:sp>
      <p:sp>
        <p:nvSpPr>
          <p:cNvPr id="20" name="Text 18"/>
          <p:cNvSpPr/>
          <p:nvPr/>
        </p:nvSpPr>
        <p:spPr>
          <a:xfrm>
            <a:off x="548640" y="4892040"/>
            <a:ext cx="10058400" cy="457200"/>
          </a:xfrm>
          <a:prstGeom prst="rect">
            <a:avLst/>
          </a:prstGeom>
          <a:noFill/>
          <a:ln/>
        </p:spPr>
        <p:txBody>
          <a:bodyPr wrap="square" rtlCol="0" anchor="ctr"/>
          <a:lstStyle/>
          <a:p>
            <a:pPr marL="0" indent="0">
              <a:buNone/>
            </a:pPr>
            <a:r>
              <a:rPr lang="en-US" sz="1200" dirty="0">
                <a:solidFill>
                  <a:srgbClr val="CADCFC"/>
                </a:solidFill>
                <a:latin typeface="Courier New" pitchFamily="34" charset="0"/>
                <a:ea typeface="Courier New" pitchFamily="34" charset="-122"/>
                <a:cs typeface="Courier New" pitchFamily="34" charset="-120"/>
              </a:rPr>
              <a:t>NewsBot2IntegratedSystem  ·  NewsBot2TestSuite  ·  Try/except isolation across all 8 components</a:t>
            </a:r>
            <a:endParaRPr lang="en-US" sz="1200" dirty="0"/>
          </a:p>
        </p:txBody>
      </p:sp>
      <p:sp>
        <p:nvSpPr>
          <p:cNvPr id="21"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85800"/>
            <a:ext cx="82296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How We Measured Performance</a:t>
            </a:r>
            <a:endParaRPr lang="en-US" sz="2800" dirty="0"/>
          </a:p>
        </p:txBody>
      </p:sp>
      <p:graphicFrame>
        <p:nvGraphicFramePr>
          <p:cNvPr id="4" name="Chart 0"/>
          <p:cNvGraphicFramePr/>
          <p:nvPr/>
        </p:nvGraphicFramePr>
        <p:xfrm>
          <a:off x="548640" y="155448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554480"/>
            <a:ext cx="3840480" cy="4480560"/>
          </a:xfrm>
          <a:prstGeom prst="roundRect">
            <a:avLst>
              <a:gd name="adj" fmla="val 2381"/>
            </a:avLst>
          </a:prstGeom>
          <a:solidFill>
            <a:srgbClr val="F4F7FA"/>
          </a:solidFill>
          <a:ln/>
        </p:spPr>
        <p:txBody>
          <a:bodyPr/>
          <a:lstStyle/>
          <a:p>
            <a:endParaRPr lang="th-TH"/>
          </a:p>
        </p:txBody>
      </p:sp>
      <p:sp>
        <p:nvSpPr>
          <p:cNvPr id="6" name="Text 3"/>
          <p:cNvSpPr/>
          <p:nvPr/>
        </p:nvSpPr>
        <p:spPr>
          <a:xfrm>
            <a:off x="8046720" y="1783080"/>
            <a:ext cx="3291840" cy="36576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Key Takeaways</a:t>
            </a:r>
            <a:endParaRPr lang="en-US" sz="1500" dirty="0"/>
          </a:p>
        </p:txBody>
      </p:sp>
      <p:sp>
        <p:nvSpPr>
          <p:cNvPr id="7" name="Shape 4"/>
          <p:cNvSpPr/>
          <p:nvPr/>
        </p:nvSpPr>
        <p:spPr>
          <a:xfrm>
            <a:off x="8092440" y="2340864"/>
            <a:ext cx="91440" cy="91440"/>
          </a:xfrm>
          <a:prstGeom prst="ellipse">
            <a:avLst/>
          </a:prstGeom>
          <a:solidFill>
            <a:srgbClr val="E8A33D"/>
          </a:solidFill>
          <a:ln/>
        </p:spPr>
        <p:txBody>
          <a:bodyPr/>
          <a:lstStyle/>
          <a:p>
            <a:endParaRPr lang="th-TH"/>
          </a:p>
        </p:txBody>
      </p:sp>
      <p:sp>
        <p:nvSpPr>
          <p:cNvPr id="8" name="Text 5"/>
          <p:cNvSpPr/>
          <p:nvPr/>
        </p:nvSpPr>
        <p:spPr>
          <a:xfrm>
            <a:off x="8321040" y="2212848"/>
            <a:ext cx="3108960" cy="640080"/>
          </a:xfrm>
          <a:prstGeom prst="rect">
            <a:avLst/>
          </a:prstGeom>
          <a:noFill/>
          <a:ln/>
        </p:spPr>
        <p:txBody>
          <a:bodyPr wrap="square" rtlCol="0" anchor="ctr"/>
          <a:lstStyle/>
          <a:p>
            <a:pPr marL="0" indent="0">
              <a:lnSpc>
                <a:spcPts val="1400"/>
              </a:lnSpc>
              <a:buNone/>
            </a:pPr>
            <a:r>
              <a:rPr lang="en-US" sz="1100" dirty="0">
                <a:solidFill>
                  <a:srgbClr val="1B2733"/>
                </a:solidFill>
                <a:latin typeface="Calibri" pitchFamily="34" charset="0"/>
                <a:ea typeface="Calibri" pitchFamily="34" charset="-122"/>
                <a:cs typeface="Calibri" pitchFamily="34" charset="-120"/>
              </a:rPr>
              <a:t>Classification accuracy exceeds 85% across 5 news categories.</a:t>
            </a:r>
            <a:endParaRPr lang="en-US" sz="1100" dirty="0"/>
          </a:p>
        </p:txBody>
      </p:sp>
      <p:sp>
        <p:nvSpPr>
          <p:cNvPr id="9" name="Shape 6"/>
          <p:cNvSpPr/>
          <p:nvPr/>
        </p:nvSpPr>
        <p:spPr>
          <a:xfrm>
            <a:off x="8092440" y="3054096"/>
            <a:ext cx="91440" cy="91440"/>
          </a:xfrm>
          <a:prstGeom prst="ellipse">
            <a:avLst/>
          </a:prstGeom>
          <a:solidFill>
            <a:srgbClr val="E8A33D"/>
          </a:solidFill>
          <a:ln/>
        </p:spPr>
        <p:txBody>
          <a:bodyPr/>
          <a:lstStyle/>
          <a:p>
            <a:endParaRPr lang="th-TH"/>
          </a:p>
        </p:txBody>
      </p:sp>
      <p:sp>
        <p:nvSpPr>
          <p:cNvPr id="10" name="Text 7"/>
          <p:cNvSpPr/>
          <p:nvPr/>
        </p:nvSpPr>
        <p:spPr>
          <a:xfrm>
            <a:off x="8321040" y="2926080"/>
            <a:ext cx="3108960" cy="640080"/>
          </a:xfrm>
          <a:prstGeom prst="rect">
            <a:avLst/>
          </a:prstGeom>
          <a:noFill/>
          <a:ln/>
        </p:spPr>
        <p:txBody>
          <a:bodyPr wrap="square" rtlCol="0" anchor="ctr"/>
          <a:lstStyle/>
          <a:p>
            <a:pPr marL="0" indent="0">
              <a:lnSpc>
                <a:spcPts val="1400"/>
              </a:lnSpc>
              <a:buNone/>
            </a:pPr>
            <a:r>
              <a:rPr lang="en-US" sz="1100" dirty="0">
                <a:solidFill>
                  <a:srgbClr val="1B2733"/>
                </a:solidFill>
                <a:latin typeface="Calibri" pitchFamily="34" charset="0"/>
                <a:ea typeface="Calibri" pitchFamily="34" charset="-122"/>
                <a:cs typeface="Calibri" pitchFamily="34" charset="-120"/>
              </a:rPr>
              <a:t>Sentiment tracking closely matches human-labeled evaluation samples.</a:t>
            </a:r>
            <a:endParaRPr lang="en-US" sz="1100" dirty="0"/>
          </a:p>
        </p:txBody>
      </p:sp>
      <p:sp>
        <p:nvSpPr>
          <p:cNvPr id="11" name="Shape 8"/>
          <p:cNvSpPr/>
          <p:nvPr/>
        </p:nvSpPr>
        <p:spPr>
          <a:xfrm>
            <a:off x="8092440" y="3767328"/>
            <a:ext cx="91440" cy="91440"/>
          </a:xfrm>
          <a:prstGeom prst="ellipse">
            <a:avLst/>
          </a:prstGeom>
          <a:solidFill>
            <a:srgbClr val="E8A33D"/>
          </a:solidFill>
          <a:ln/>
        </p:spPr>
        <p:txBody>
          <a:bodyPr/>
          <a:lstStyle/>
          <a:p>
            <a:endParaRPr lang="th-TH"/>
          </a:p>
        </p:txBody>
      </p:sp>
      <p:sp>
        <p:nvSpPr>
          <p:cNvPr id="12" name="Text 9"/>
          <p:cNvSpPr/>
          <p:nvPr/>
        </p:nvSpPr>
        <p:spPr>
          <a:xfrm>
            <a:off x="8321040" y="3639312"/>
            <a:ext cx="3108960" cy="640080"/>
          </a:xfrm>
          <a:prstGeom prst="rect">
            <a:avLst/>
          </a:prstGeom>
          <a:noFill/>
          <a:ln/>
        </p:spPr>
        <p:txBody>
          <a:bodyPr wrap="square" rtlCol="0" anchor="ctr"/>
          <a:lstStyle/>
          <a:p>
            <a:pPr marL="0" indent="0">
              <a:lnSpc>
                <a:spcPts val="1400"/>
              </a:lnSpc>
              <a:buNone/>
            </a:pPr>
            <a:r>
              <a:rPr lang="en-US" sz="1100" dirty="0">
                <a:solidFill>
                  <a:srgbClr val="1B2733"/>
                </a:solidFill>
                <a:latin typeface="Calibri" pitchFamily="34" charset="0"/>
                <a:ea typeface="Calibri" pitchFamily="34" charset="-122"/>
                <a:cs typeface="Calibri" pitchFamily="34" charset="-120"/>
              </a:rPr>
              <a:t>Topic coherence is strong for business &amp; politics; weaker for mixed-topic articles.</a:t>
            </a:r>
            <a:endParaRPr lang="en-US" sz="1100" dirty="0"/>
          </a:p>
        </p:txBody>
      </p:sp>
      <p:sp>
        <p:nvSpPr>
          <p:cNvPr id="13" name="Shape 10"/>
          <p:cNvSpPr/>
          <p:nvPr/>
        </p:nvSpPr>
        <p:spPr>
          <a:xfrm>
            <a:off x="8092440" y="4480560"/>
            <a:ext cx="91440" cy="91440"/>
          </a:xfrm>
          <a:prstGeom prst="ellipse">
            <a:avLst/>
          </a:prstGeom>
          <a:solidFill>
            <a:srgbClr val="E8A33D"/>
          </a:solidFill>
          <a:ln/>
        </p:spPr>
        <p:txBody>
          <a:bodyPr/>
          <a:lstStyle/>
          <a:p>
            <a:endParaRPr lang="th-TH"/>
          </a:p>
        </p:txBody>
      </p:sp>
      <p:sp>
        <p:nvSpPr>
          <p:cNvPr id="14" name="Text 11"/>
          <p:cNvSpPr/>
          <p:nvPr/>
        </p:nvSpPr>
        <p:spPr>
          <a:xfrm>
            <a:off x="8321040" y="4352544"/>
            <a:ext cx="3108960" cy="640080"/>
          </a:xfrm>
          <a:prstGeom prst="rect">
            <a:avLst/>
          </a:prstGeom>
          <a:noFill/>
          <a:ln/>
        </p:spPr>
        <p:txBody>
          <a:bodyPr wrap="square" rtlCol="0" anchor="ctr"/>
          <a:lstStyle/>
          <a:p>
            <a:pPr marL="0" indent="0">
              <a:lnSpc>
                <a:spcPts val="1400"/>
              </a:lnSpc>
              <a:buNone/>
            </a:pPr>
            <a:r>
              <a:rPr lang="en-US" sz="1100" dirty="0">
                <a:solidFill>
                  <a:srgbClr val="1B2733"/>
                </a:solidFill>
                <a:latin typeface="Calibri" pitchFamily="34" charset="0"/>
                <a:ea typeface="Calibri" pitchFamily="34" charset="-122"/>
                <a:cs typeface="Calibri" pitchFamily="34" charset="-120"/>
              </a:rPr>
              <a:t>Summarization prioritizes fluency; extractive coverage remains an improvement area.</a:t>
            </a:r>
            <a:endParaRPr lang="en-US" sz="1100" dirty="0"/>
          </a:p>
        </p:txBody>
      </p:sp>
      <p:sp>
        <p:nvSpPr>
          <p:cNvPr id="15" name="Text 1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685800"/>
            <a:ext cx="73152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Technology Stack</a:t>
            </a:r>
            <a:endParaRPr lang="en-US" sz="2800" dirty="0"/>
          </a:p>
        </p:txBody>
      </p:sp>
      <p:sp>
        <p:nvSpPr>
          <p:cNvPr id="4" name="Shape 2"/>
          <p:cNvSpPr/>
          <p:nvPr/>
        </p:nvSpPr>
        <p:spPr>
          <a:xfrm>
            <a:off x="548640" y="1691640"/>
            <a:ext cx="5349240" cy="2148840"/>
          </a:xfrm>
          <a:prstGeom prst="roundRect">
            <a:avLst>
              <a:gd name="adj" fmla="val 4255"/>
            </a:avLst>
          </a:prstGeom>
          <a:solidFill>
            <a:srgbClr val="FFFFFF"/>
          </a:solidFill>
          <a:ln w="12700">
            <a:solidFill>
              <a:srgbClr val="CADCFC"/>
            </a:solidFill>
            <a:prstDash val="solid"/>
          </a:ln>
        </p:spPr>
        <p:txBody>
          <a:bodyPr/>
          <a:lstStyle/>
          <a:p>
            <a:endParaRPr lang="th-TH"/>
          </a:p>
        </p:txBody>
      </p:sp>
      <p:sp>
        <p:nvSpPr>
          <p:cNvPr id="5" name="Shape 3"/>
          <p:cNvSpPr/>
          <p:nvPr/>
        </p:nvSpPr>
        <p:spPr>
          <a:xfrm>
            <a:off x="822960" y="1947672"/>
            <a:ext cx="109728" cy="457200"/>
          </a:xfrm>
          <a:prstGeom prst="roundRect">
            <a:avLst/>
          </a:prstGeom>
          <a:solidFill>
            <a:srgbClr val="1C7293"/>
          </a:solidFill>
          <a:ln/>
        </p:spPr>
        <p:txBody>
          <a:bodyPr/>
          <a:lstStyle/>
          <a:p>
            <a:endParaRPr lang="th-TH"/>
          </a:p>
        </p:txBody>
      </p:sp>
      <p:sp>
        <p:nvSpPr>
          <p:cNvPr id="6" name="Text 4"/>
          <p:cNvSpPr/>
          <p:nvPr/>
        </p:nvSpPr>
        <p:spPr>
          <a:xfrm>
            <a:off x="1051560" y="1920240"/>
            <a:ext cx="4526280" cy="50292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Core NLP</a:t>
            </a:r>
            <a:endParaRPr lang="en-US" sz="1500" dirty="0"/>
          </a:p>
        </p:txBody>
      </p:sp>
      <p:sp>
        <p:nvSpPr>
          <p:cNvPr id="7" name="Shape 5"/>
          <p:cNvSpPr/>
          <p:nvPr/>
        </p:nvSpPr>
        <p:spPr>
          <a:xfrm>
            <a:off x="822960" y="2606040"/>
            <a:ext cx="594360"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8" name="Text 6"/>
          <p:cNvSpPr/>
          <p:nvPr/>
        </p:nvSpPr>
        <p:spPr>
          <a:xfrm>
            <a:off x="822960" y="2606040"/>
            <a:ext cx="594360"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spaCy</a:t>
            </a:r>
            <a:endParaRPr lang="en-US" sz="1050" dirty="0"/>
          </a:p>
        </p:txBody>
      </p:sp>
      <p:sp>
        <p:nvSpPr>
          <p:cNvPr id="9" name="Shape 7"/>
          <p:cNvSpPr/>
          <p:nvPr/>
        </p:nvSpPr>
        <p:spPr>
          <a:xfrm>
            <a:off x="1581912" y="2606040"/>
            <a:ext cx="515722"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10" name="Text 8"/>
          <p:cNvSpPr/>
          <p:nvPr/>
        </p:nvSpPr>
        <p:spPr>
          <a:xfrm>
            <a:off x="1581912" y="2606040"/>
            <a:ext cx="515722"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NLTK</a:t>
            </a:r>
            <a:endParaRPr lang="en-US" sz="1050" dirty="0"/>
          </a:p>
        </p:txBody>
      </p:sp>
      <p:sp>
        <p:nvSpPr>
          <p:cNvPr id="11" name="Shape 9"/>
          <p:cNvSpPr/>
          <p:nvPr/>
        </p:nvSpPr>
        <p:spPr>
          <a:xfrm>
            <a:off x="2262226" y="2606040"/>
            <a:ext cx="1144829"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12" name="Text 10"/>
          <p:cNvSpPr/>
          <p:nvPr/>
        </p:nvSpPr>
        <p:spPr>
          <a:xfrm>
            <a:off x="2262226" y="2606040"/>
            <a:ext cx="1144829"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scikit-learn</a:t>
            </a:r>
            <a:endParaRPr lang="en-US" sz="1050" dirty="0"/>
          </a:p>
        </p:txBody>
      </p:sp>
      <p:sp>
        <p:nvSpPr>
          <p:cNvPr id="13" name="Shape 11"/>
          <p:cNvSpPr/>
          <p:nvPr/>
        </p:nvSpPr>
        <p:spPr>
          <a:xfrm>
            <a:off x="3571646" y="2606040"/>
            <a:ext cx="672998"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14" name="Text 12"/>
          <p:cNvSpPr/>
          <p:nvPr/>
        </p:nvSpPr>
        <p:spPr>
          <a:xfrm>
            <a:off x="3571646" y="2606040"/>
            <a:ext cx="672998"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Gensim</a:t>
            </a:r>
            <a:endParaRPr lang="en-US" sz="1050" dirty="0"/>
          </a:p>
        </p:txBody>
      </p:sp>
      <p:sp>
        <p:nvSpPr>
          <p:cNvPr id="15" name="Shape 13"/>
          <p:cNvSpPr/>
          <p:nvPr/>
        </p:nvSpPr>
        <p:spPr>
          <a:xfrm>
            <a:off x="6217920" y="1691640"/>
            <a:ext cx="5349240" cy="2148840"/>
          </a:xfrm>
          <a:prstGeom prst="roundRect">
            <a:avLst>
              <a:gd name="adj" fmla="val 4255"/>
            </a:avLst>
          </a:prstGeom>
          <a:solidFill>
            <a:srgbClr val="FFFFFF"/>
          </a:solidFill>
          <a:ln w="12700">
            <a:solidFill>
              <a:srgbClr val="CADCFC"/>
            </a:solidFill>
            <a:prstDash val="solid"/>
          </a:ln>
        </p:spPr>
        <p:txBody>
          <a:bodyPr/>
          <a:lstStyle/>
          <a:p>
            <a:endParaRPr lang="th-TH"/>
          </a:p>
        </p:txBody>
      </p:sp>
      <p:sp>
        <p:nvSpPr>
          <p:cNvPr id="16" name="Shape 14"/>
          <p:cNvSpPr/>
          <p:nvPr/>
        </p:nvSpPr>
        <p:spPr>
          <a:xfrm>
            <a:off x="6492240" y="1947672"/>
            <a:ext cx="109728" cy="457200"/>
          </a:xfrm>
          <a:prstGeom prst="roundRect">
            <a:avLst/>
          </a:prstGeom>
          <a:solidFill>
            <a:srgbClr val="E8A33D"/>
          </a:solidFill>
          <a:ln/>
        </p:spPr>
        <p:txBody>
          <a:bodyPr/>
          <a:lstStyle/>
          <a:p>
            <a:endParaRPr lang="th-TH"/>
          </a:p>
        </p:txBody>
      </p:sp>
      <p:sp>
        <p:nvSpPr>
          <p:cNvPr id="17" name="Text 15"/>
          <p:cNvSpPr/>
          <p:nvPr/>
        </p:nvSpPr>
        <p:spPr>
          <a:xfrm>
            <a:off x="6720840" y="1920240"/>
            <a:ext cx="4526280" cy="50292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Deep Learning</a:t>
            </a:r>
            <a:endParaRPr lang="en-US" sz="1500" dirty="0"/>
          </a:p>
        </p:txBody>
      </p:sp>
      <p:sp>
        <p:nvSpPr>
          <p:cNvPr id="18" name="Shape 16"/>
          <p:cNvSpPr/>
          <p:nvPr/>
        </p:nvSpPr>
        <p:spPr>
          <a:xfrm>
            <a:off x="6492240" y="2606040"/>
            <a:ext cx="1695298"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19" name="Text 17"/>
          <p:cNvSpPr/>
          <p:nvPr/>
        </p:nvSpPr>
        <p:spPr>
          <a:xfrm>
            <a:off x="6492240" y="2606040"/>
            <a:ext cx="1695298"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Transformers (BART)</a:t>
            </a:r>
            <a:endParaRPr lang="en-US" sz="1050" dirty="0"/>
          </a:p>
        </p:txBody>
      </p:sp>
      <p:sp>
        <p:nvSpPr>
          <p:cNvPr id="20" name="Shape 18"/>
          <p:cNvSpPr/>
          <p:nvPr/>
        </p:nvSpPr>
        <p:spPr>
          <a:xfrm>
            <a:off x="8352130" y="2606040"/>
            <a:ext cx="1852574"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21" name="Text 19"/>
          <p:cNvSpPr/>
          <p:nvPr/>
        </p:nvSpPr>
        <p:spPr>
          <a:xfrm>
            <a:off x="8352130" y="2606040"/>
            <a:ext cx="1852574"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Sentence-Transformers</a:t>
            </a:r>
            <a:endParaRPr lang="en-US" sz="1050" dirty="0"/>
          </a:p>
        </p:txBody>
      </p:sp>
      <p:sp>
        <p:nvSpPr>
          <p:cNvPr id="22" name="Shape 20"/>
          <p:cNvSpPr/>
          <p:nvPr/>
        </p:nvSpPr>
        <p:spPr>
          <a:xfrm>
            <a:off x="10369296" y="2606040"/>
            <a:ext cx="751637"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23" name="Text 21"/>
          <p:cNvSpPr/>
          <p:nvPr/>
        </p:nvSpPr>
        <p:spPr>
          <a:xfrm>
            <a:off x="10369296" y="2606040"/>
            <a:ext cx="751637"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PyTorch</a:t>
            </a:r>
            <a:endParaRPr lang="en-US" sz="1050" dirty="0"/>
          </a:p>
        </p:txBody>
      </p:sp>
      <p:sp>
        <p:nvSpPr>
          <p:cNvPr id="24" name="Shape 22"/>
          <p:cNvSpPr/>
          <p:nvPr/>
        </p:nvSpPr>
        <p:spPr>
          <a:xfrm>
            <a:off x="6492240" y="3108960"/>
            <a:ext cx="987552"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25" name="Text 23"/>
          <p:cNvSpPr/>
          <p:nvPr/>
        </p:nvSpPr>
        <p:spPr>
          <a:xfrm>
            <a:off x="6492240" y="3108960"/>
            <a:ext cx="987552"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DistilBERT</a:t>
            </a:r>
            <a:endParaRPr lang="en-US" sz="1050" dirty="0"/>
          </a:p>
        </p:txBody>
      </p:sp>
      <p:sp>
        <p:nvSpPr>
          <p:cNvPr id="26" name="Shape 24"/>
          <p:cNvSpPr/>
          <p:nvPr/>
        </p:nvSpPr>
        <p:spPr>
          <a:xfrm>
            <a:off x="548640" y="4114800"/>
            <a:ext cx="5349240" cy="2148840"/>
          </a:xfrm>
          <a:prstGeom prst="roundRect">
            <a:avLst>
              <a:gd name="adj" fmla="val 4255"/>
            </a:avLst>
          </a:prstGeom>
          <a:solidFill>
            <a:srgbClr val="FFFFFF"/>
          </a:solidFill>
          <a:ln w="12700">
            <a:solidFill>
              <a:srgbClr val="CADCFC"/>
            </a:solidFill>
            <a:prstDash val="solid"/>
          </a:ln>
        </p:spPr>
        <p:txBody>
          <a:bodyPr/>
          <a:lstStyle/>
          <a:p>
            <a:endParaRPr lang="th-TH"/>
          </a:p>
        </p:txBody>
      </p:sp>
      <p:sp>
        <p:nvSpPr>
          <p:cNvPr id="27" name="Shape 25"/>
          <p:cNvSpPr/>
          <p:nvPr/>
        </p:nvSpPr>
        <p:spPr>
          <a:xfrm>
            <a:off x="822960" y="4370832"/>
            <a:ext cx="109728" cy="457200"/>
          </a:xfrm>
          <a:prstGeom prst="roundRect">
            <a:avLst/>
          </a:prstGeom>
          <a:solidFill>
            <a:srgbClr val="1C7293"/>
          </a:solidFill>
          <a:ln/>
        </p:spPr>
        <p:txBody>
          <a:bodyPr/>
          <a:lstStyle/>
          <a:p>
            <a:endParaRPr lang="th-TH"/>
          </a:p>
        </p:txBody>
      </p:sp>
      <p:sp>
        <p:nvSpPr>
          <p:cNvPr id="28" name="Text 26"/>
          <p:cNvSpPr/>
          <p:nvPr/>
        </p:nvSpPr>
        <p:spPr>
          <a:xfrm>
            <a:off x="1051560" y="4343400"/>
            <a:ext cx="4526280" cy="50292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Data &amp; Eval</a:t>
            </a:r>
            <a:endParaRPr lang="en-US" sz="1500" dirty="0"/>
          </a:p>
        </p:txBody>
      </p:sp>
      <p:sp>
        <p:nvSpPr>
          <p:cNvPr id="29" name="Shape 27"/>
          <p:cNvSpPr/>
          <p:nvPr/>
        </p:nvSpPr>
        <p:spPr>
          <a:xfrm>
            <a:off x="822960" y="5029200"/>
            <a:ext cx="1302106"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30" name="Text 28"/>
          <p:cNvSpPr/>
          <p:nvPr/>
        </p:nvSpPr>
        <p:spPr>
          <a:xfrm>
            <a:off x="822960" y="5029200"/>
            <a:ext cx="1302106"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pandas / NumPy</a:t>
            </a:r>
            <a:endParaRPr lang="en-US" sz="1050" dirty="0"/>
          </a:p>
        </p:txBody>
      </p:sp>
      <p:sp>
        <p:nvSpPr>
          <p:cNvPr id="31" name="Shape 29"/>
          <p:cNvSpPr/>
          <p:nvPr/>
        </p:nvSpPr>
        <p:spPr>
          <a:xfrm>
            <a:off x="2289658" y="5029200"/>
            <a:ext cx="830275"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32" name="Text 30"/>
          <p:cNvSpPr/>
          <p:nvPr/>
        </p:nvSpPr>
        <p:spPr>
          <a:xfrm>
            <a:off x="2289658" y="5029200"/>
            <a:ext cx="830275"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NetworkX</a:t>
            </a:r>
            <a:endParaRPr lang="en-US" sz="1050" dirty="0"/>
          </a:p>
        </p:txBody>
      </p:sp>
      <p:sp>
        <p:nvSpPr>
          <p:cNvPr id="33" name="Shape 31"/>
          <p:cNvSpPr/>
          <p:nvPr/>
        </p:nvSpPr>
        <p:spPr>
          <a:xfrm>
            <a:off x="3284525" y="5029200"/>
            <a:ext cx="1773936"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34" name="Text 32"/>
          <p:cNvSpPr/>
          <p:nvPr/>
        </p:nvSpPr>
        <p:spPr>
          <a:xfrm>
            <a:off x="3284525" y="5029200"/>
            <a:ext cx="1773936"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Matplotlib / Seaborn</a:t>
            </a:r>
            <a:endParaRPr lang="en-US" sz="1050" dirty="0"/>
          </a:p>
        </p:txBody>
      </p:sp>
      <p:sp>
        <p:nvSpPr>
          <p:cNvPr id="35" name="Shape 33"/>
          <p:cNvSpPr/>
          <p:nvPr/>
        </p:nvSpPr>
        <p:spPr>
          <a:xfrm>
            <a:off x="822960" y="5532120"/>
            <a:ext cx="1773936"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36" name="Text 34"/>
          <p:cNvSpPr/>
          <p:nvPr/>
        </p:nvSpPr>
        <p:spPr>
          <a:xfrm>
            <a:off x="822960" y="5532120"/>
            <a:ext cx="1773936"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scikit-learn metrics</a:t>
            </a:r>
            <a:endParaRPr lang="en-US" sz="1050" dirty="0"/>
          </a:p>
        </p:txBody>
      </p:sp>
      <p:sp>
        <p:nvSpPr>
          <p:cNvPr id="37" name="Shape 35"/>
          <p:cNvSpPr/>
          <p:nvPr/>
        </p:nvSpPr>
        <p:spPr>
          <a:xfrm>
            <a:off x="6217920" y="4114800"/>
            <a:ext cx="5349240" cy="2148840"/>
          </a:xfrm>
          <a:prstGeom prst="roundRect">
            <a:avLst>
              <a:gd name="adj" fmla="val 4255"/>
            </a:avLst>
          </a:prstGeom>
          <a:solidFill>
            <a:srgbClr val="FFFFFF"/>
          </a:solidFill>
          <a:ln w="12700">
            <a:solidFill>
              <a:srgbClr val="CADCFC"/>
            </a:solidFill>
            <a:prstDash val="solid"/>
          </a:ln>
        </p:spPr>
        <p:txBody>
          <a:bodyPr/>
          <a:lstStyle/>
          <a:p>
            <a:endParaRPr lang="th-TH"/>
          </a:p>
        </p:txBody>
      </p:sp>
      <p:sp>
        <p:nvSpPr>
          <p:cNvPr id="38" name="Shape 36"/>
          <p:cNvSpPr/>
          <p:nvPr/>
        </p:nvSpPr>
        <p:spPr>
          <a:xfrm>
            <a:off x="6492240" y="4370832"/>
            <a:ext cx="109728" cy="457200"/>
          </a:xfrm>
          <a:prstGeom prst="roundRect">
            <a:avLst/>
          </a:prstGeom>
          <a:solidFill>
            <a:srgbClr val="E8A33D"/>
          </a:solidFill>
          <a:ln/>
        </p:spPr>
        <p:txBody>
          <a:bodyPr/>
          <a:lstStyle/>
          <a:p>
            <a:endParaRPr lang="th-TH"/>
          </a:p>
        </p:txBody>
      </p:sp>
      <p:sp>
        <p:nvSpPr>
          <p:cNvPr id="39" name="Text 37"/>
          <p:cNvSpPr/>
          <p:nvPr/>
        </p:nvSpPr>
        <p:spPr>
          <a:xfrm>
            <a:off x="6720840" y="4343400"/>
            <a:ext cx="4526280" cy="50292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Language &amp; Translation</a:t>
            </a:r>
            <a:endParaRPr lang="en-US" sz="1500" dirty="0"/>
          </a:p>
        </p:txBody>
      </p:sp>
      <p:sp>
        <p:nvSpPr>
          <p:cNvPr id="40" name="Shape 38"/>
          <p:cNvSpPr/>
          <p:nvPr/>
        </p:nvSpPr>
        <p:spPr>
          <a:xfrm>
            <a:off x="6492240" y="5029200"/>
            <a:ext cx="987552"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41" name="Text 39"/>
          <p:cNvSpPr/>
          <p:nvPr/>
        </p:nvSpPr>
        <p:spPr>
          <a:xfrm>
            <a:off x="6492240" y="5029200"/>
            <a:ext cx="987552"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langdetect</a:t>
            </a:r>
            <a:endParaRPr lang="en-US" sz="1050" dirty="0"/>
          </a:p>
        </p:txBody>
      </p:sp>
      <p:sp>
        <p:nvSpPr>
          <p:cNvPr id="42" name="Shape 40"/>
          <p:cNvSpPr/>
          <p:nvPr/>
        </p:nvSpPr>
        <p:spPr>
          <a:xfrm>
            <a:off x="7644384" y="5029200"/>
            <a:ext cx="1931213"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43" name="Text 41"/>
          <p:cNvSpPr/>
          <p:nvPr/>
        </p:nvSpPr>
        <p:spPr>
          <a:xfrm>
            <a:off x="7644384" y="5029200"/>
            <a:ext cx="1931213"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Hugging Face pipelines</a:t>
            </a:r>
            <a:endParaRPr lang="en-US" sz="1050" dirty="0"/>
          </a:p>
        </p:txBody>
      </p:sp>
      <p:sp>
        <p:nvSpPr>
          <p:cNvPr id="44" name="Shape 42"/>
          <p:cNvSpPr/>
          <p:nvPr/>
        </p:nvSpPr>
        <p:spPr>
          <a:xfrm>
            <a:off x="6492240" y="5532120"/>
            <a:ext cx="2167128" cy="384048"/>
          </a:xfrm>
          <a:prstGeom prst="roundRect">
            <a:avLst>
              <a:gd name="adj" fmla="val 47619"/>
            </a:avLst>
          </a:prstGeom>
          <a:solidFill>
            <a:srgbClr val="F4F7FA"/>
          </a:solidFill>
          <a:ln w="9525">
            <a:solidFill>
              <a:srgbClr val="CADCFC"/>
            </a:solidFill>
            <a:prstDash val="solid"/>
          </a:ln>
        </p:spPr>
        <p:txBody>
          <a:bodyPr/>
          <a:lstStyle/>
          <a:p>
            <a:endParaRPr lang="th-TH"/>
          </a:p>
        </p:txBody>
      </p:sp>
      <p:sp>
        <p:nvSpPr>
          <p:cNvPr id="45" name="Text 43"/>
          <p:cNvSpPr/>
          <p:nvPr/>
        </p:nvSpPr>
        <p:spPr>
          <a:xfrm>
            <a:off x="6492240" y="5532120"/>
            <a:ext cx="2167128" cy="384048"/>
          </a:xfrm>
          <a:prstGeom prst="rect">
            <a:avLst/>
          </a:prstGeom>
          <a:noFill/>
          <a:ln/>
        </p:spPr>
        <p:txBody>
          <a:bodyPr wrap="square" rtlCol="0" anchor="ctr"/>
          <a:lstStyle/>
          <a:p>
            <a:pPr marL="0" indent="0" algn="ctr">
              <a:buNone/>
            </a:pPr>
            <a:r>
              <a:rPr lang="en-US" sz="1050" dirty="0">
                <a:solidFill>
                  <a:srgbClr val="1B2733"/>
                </a:solidFill>
                <a:latin typeface="Calibri" pitchFamily="34" charset="0"/>
                <a:ea typeface="Calibri" pitchFamily="34" charset="-122"/>
                <a:cs typeface="Calibri" pitchFamily="34" charset="-120"/>
              </a:rPr>
              <a:t>Custom rule-based intents</a:t>
            </a:r>
            <a:endParaRPr lang="en-US" sz="1050" dirty="0"/>
          </a:p>
        </p:txBody>
      </p:sp>
      <p:sp>
        <p:nvSpPr>
          <p:cNvPr id="46" name="Text 4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Research Prototype to Real Value</a:t>
            </a:r>
            <a:endParaRPr lang="en-US" sz="2800" dirty="0"/>
          </a:p>
        </p:txBody>
      </p:sp>
      <p:sp>
        <p:nvSpPr>
          <p:cNvPr id="4" name="Shape 2"/>
          <p:cNvSpPr/>
          <p:nvPr/>
        </p:nvSpPr>
        <p:spPr>
          <a:xfrm>
            <a:off x="548640" y="1737360"/>
            <a:ext cx="3611880" cy="2926080"/>
          </a:xfrm>
          <a:prstGeom prst="roundRect">
            <a:avLst>
              <a:gd name="adj" fmla="val 3125"/>
            </a:avLst>
          </a:prstGeom>
          <a:solidFill>
            <a:srgbClr val="081A33"/>
          </a:solidFill>
          <a:ln/>
        </p:spPr>
        <p:txBody>
          <a:bodyPr/>
          <a:lstStyle/>
          <a:p>
            <a:endParaRPr lang="th-TH"/>
          </a:p>
        </p:txBody>
      </p:sp>
      <p:sp>
        <p:nvSpPr>
          <p:cNvPr id="5" name="Shape 3"/>
          <p:cNvSpPr/>
          <p:nvPr/>
        </p:nvSpPr>
        <p:spPr>
          <a:xfrm>
            <a:off x="822960" y="2011680"/>
            <a:ext cx="502920" cy="502920"/>
          </a:xfrm>
          <a:prstGeom prst="ellipse">
            <a:avLst/>
          </a:prstGeom>
          <a:solidFill>
            <a:srgbClr val="E8A33D"/>
          </a:solidFill>
          <a:ln/>
        </p:spPr>
        <p:txBody>
          <a:bodyPr/>
          <a:lstStyle/>
          <a:p>
            <a:endParaRPr lang="th-TH"/>
          </a:p>
        </p:txBody>
      </p:sp>
      <p:sp>
        <p:nvSpPr>
          <p:cNvPr id="6" name="Text 4"/>
          <p:cNvSpPr/>
          <p:nvPr/>
        </p:nvSpPr>
        <p:spPr>
          <a:xfrm>
            <a:off x="822960" y="2743200"/>
            <a:ext cx="30632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Newsrooms</a:t>
            </a:r>
            <a:endParaRPr lang="en-US" sz="1500" dirty="0"/>
          </a:p>
        </p:txBody>
      </p:sp>
      <p:sp>
        <p:nvSpPr>
          <p:cNvPr id="7" name="Text 5"/>
          <p:cNvSpPr/>
          <p:nvPr/>
        </p:nvSpPr>
        <p:spPr>
          <a:xfrm>
            <a:off x="822960" y="3246120"/>
            <a:ext cx="3063240" cy="1280160"/>
          </a:xfrm>
          <a:prstGeom prst="rect">
            <a:avLst/>
          </a:prstGeom>
          <a:noFill/>
          <a:ln/>
        </p:spPr>
        <p:txBody>
          <a:bodyPr wrap="square"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Automate tagging &amp; summarization, freeing editors to focus on original reporting.</a:t>
            </a:r>
            <a:endParaRPr lang="en-US" sz="1150" dirty="0"/>
          </a:p>
        </p:txBody>
      </p:sp>
      <p:sp>
        <p:nvSpPr>
          <p:cNvPr id="8" name="Shape 6"/>
          <p:cNvSpPr/>
          <p:nvPr/>
        </p:nvSpPr>
        <p:spPr>
          <a:xfrm>
            <a:off x="4389120" y="1737360"/>
            <a:ext cx="3611880" cy="2926080"/>
          </a:xfrm>
          <a:prstGeom prst="roundRect">
            <a:avLst>
              <a:gd name="adj" fmla="val 3125"/>
            </a:avLst>
          </a:prstGeom>
          <a:solidFill>
            <a:srgbClr val="081A33"/>
          </a:solidFill>
          <a:ln/>
        </p:spPr>
        <p:txBody>
          <a:bodyPr/>
          <a:lstStyle/>
          <a:p>
            <a:endParaRPr lang="th-TH"/>
          </a:p>
        </p:txBody>
      </p:sp>
      <p:sp>
        <p:nvSpPr>
          <p:cNvPr id="9" name="Shape 7"/>
          <p:cNvSpPr/>
          <p:nvPr/>
        </p:nvSpPr>
        <p:spPr>
          <a:xfrm>
            <a:off x="4663440" y="2011680"/>
            <a:ext cx="502920" cy="502920"/>
          </a:xfrm>
          <a:prstGeom prst="ellipse">
            <a:avLst/>
          </a:prstGeom>
          <a:solidFill>
            <a:srgbClr val="E8A33D"/>
          </a:solidFill>
          <a:ln/>
        </p:spPr>
        <p:txBody>
          <a:bodyPr/>
          <a:lstStyle/>
          <a:p>
            <a:endParaRPr lang="th-TH"/>
          </a:p>
        </p:txBody>
      </p:sp>
      <p:sp>
        <p:nvSpPr>
          <p:cNvPr id="10" name="Text 8"/>
          <p:cNvSpPr/>
          <p:nvPr/>
        </p:nvSpPr>
        <p:spPr>
          <a:xfrm>
            <a:off x="4663440" y="2743200"/>
            <a:ext cx="30632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Analysts &amp; Researchers</a:t>
            </a:r>
            <a:endParaRPr lang="en-US" sz="1500" dirty="0"/>
          </a:p>
        </p:txBody>
      </p:sp>
      <p:sp>
        <p:nvSpPr>
          <p:cNvPr id="11" name="Text 9"/>
          <p:cNvSpPr/>
          <p:nvPr/>
        </p:nvSpPr>
        <p:spPr>
          <a:xfrm>
            <a:off x="4663440" y="3246120"/>
            <a:ext cx="3063240" cy="1280160"/>
          </a:xfrm>
          <a:prstGeom prst="rect">
            <a:avLst/>
          </a:prstGeom>
          <a:noFill/>
          <a:ln/>
        </p:spPr>
        <p:txBody>
          <a:bodyPr wrap="square"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Track sentiment and topic trends across thousands of articles in minutes, not days.</a:t>
            </a:r>
            <a:endParaRPr lang="en-US" sz="1150" dirty="0"/>
          </a:p>
        </p:txBody>
      </p:sp>
      <p:sp>
        <p:nvSpPr>
          <p:cNvPr id="12" name="Shape 10"/>
          <p:cNvSpPr/>
          <p:nvPr/>
        </p:nvSpPr>
        <p:spPr>
          <a:xfrm>
            <a:off x="8229600" y="1737360"/>
            <a:ext cx="3611880" cy="2926080"/>
          </a:xfrm>
          <a:prstGeom prst="roundRect">
            <a:avLst>
              <a:gd name="adj" fmla="val 3125"/>
            </a:avLst>
          </a:prstGeom>
          <a:solidFill>
            <a:srgbClr val="081A33"/>
          </a:solidFill>
          <a:ln/>
        </p:spPr>
        <p:txBody>
          <a:bodyPr/>
          <a:lstStyle/>
          <a:p>
            <a:endParaRPr lang="th-TH"/>
          </a:p>
        </p:txBody>
      </p:sp>
      <p:sp>
        <p:nvSpPr>
          <p:cNvPr id="13" name="Shape 11"/>
          <p:cNvSpPr/>
          <p:nvPr/>
        </p:nvSpPr>
        <p:spPr>
          <a:xfrm>
            <a:off x="8503920" y="2011680"/>
            <a:ext cx="502920" cy="502920"/>
          </a:xfrm>
          <a:prstGeom prst="ellipse">
            <a:avLst/>
          </a:prstGeom>
          <a:solidFill>
            <a:srgbClr val="E8A33D"/>
          </a:solidFill>
          <a:ln/>
        </p:spPr>
        <p:txBody>
          <a:bodyPr/>
          <a:lstStyle/>
          <a:p>
            <a:endParaRPr lang="th-TH"/>
          </a:p>
        </p:txBody>
      </p:sp>
      <p:sp>
        <p:nvSpPr>
          <p:cNvPr id="14" name="Text 12"/>
          <p:cNvSpPr/>
          <p:nvPr/>
        </p:nvSpPr>
        <p:spPr>
          <a:xfrm>
            <a:off x="8503920" y="2743200"/>
            <a:ext cx="30632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Global Organizations</a:t>
            </a:r>
            <a:endParaRPr lang="en-US" sz="1500" dirty="0"/>
          </a:p>
        </p:txBody>
      </p:sp>
      <p:sp>
        <p:nvSpPr>
          <p:cNvPr id="15" name="Text 13"/>
          <p:cNvSpPr/>
          <p:nvPr/>
        </p:nvSpPr>
        <p:spPr>
          <a:xfrm>
            <a:off x="8503920" y="3246120"/>
            <a:ext cx="3063240" cy="1280160"/>
          </a:xfrm>
          <a:prstGeom prst="rect">
            <a:avLst/>
          </a:prstGeom>
          <a:noFill/>
          <a:ln/>
        </p:spPr>
        <p:txBody>
          <a:bodyPr wrap="square"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Compare how the same story is covered across languages and cultural contexts.</a:t>
            </a:r>
            <a:endParaRPr lang="en-US" sz="1150" dirty="0"/>
          </a:p>
        </p:txBody>
      </p:sp>
      <p:sp>
        <p:nvSpPr>
          <p:cNvPr id="16" name="Text 14"/>
          <p:cNvSpPr/>
          <p:nvPr/>
        </p:nvSpPr>
        <p:spPr>
          <a:xfrm>
            <a:off x="548640" y="5029200"/>
            <a:ext cx="10972800" cy="822960"/>
          </a:xfrm>
          <a:prstGeom prst="rect">
            <a:avLst/>
          </a:prstGeom>
          <a:noFill/>
          <a:ln/>
        </p:spPr>
        <p:txBody>
          <a:bodyPr wrap="square" rtlCol="0" anchor="ctr"/>
          <a:lstStyle/>
          <a:p>
            <a:pPr marL="0" indent="0">
              <a:lnSpc>
                <a:spcPts val="1800"/>
              </a:lnSpc>
              <a:buNone/>
            </a:pPr>
            <a:r>
              <a:rPr lang="en-US" sz="1300" i="1" dirty="0">
                <a:solidFill>
                  <a:srgbClr val="CADCFC"/>
                </a:solidFill>
                <a:latin typeface="Calibri" pitchFamily="34" charset="0"/>
                <a:ea typeface="Calibri" pitchFamily="34" charset="-122"/>
                <a:cs typeface="Calibri" pitchFamily="34" charset="-120"/>
              </a:rPr>
              <a:t>Positioned as a lean, extensible alternative to costly enterprise media-monitoring suites — with full transparency into how each insight is generated.</a:t>
            </a:r>
            <a:endParaRPr lang="en-US" sz="1300" dirty="0"/>
          </a:p>
        </p:txBody>
      </p:sp>
      <p:sp>
        <p:nvSpPr>
          <p:cNvPr id="17"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REFLECTION</a:t>
            </a:r>
            <a:endParaRPr lang="en-US" sz="1200" dirty="0"/>
          </a:p>
        </p:txBody>
      </p:sp>
      <p:sp>
        <p:nvSpPr>
          <p:cNvPr id="3" name="Text 1"/>
          <p:cNvSpPr/>
          <p:nvPr/>
        </p:nvSpPr>
        <p:spPr>
          <a:xfrm>
            <a:off x="548640" y="685800"/>
            <a:ext cx="86868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Challenges &amp; Lessons Learned</a:t>
            </a:r>
            <a:endParaRPr lang="en-US" sz="2800" dirty="0"/>
          </a:p>
        </p:txBody>
      </p:sp>
      <p:sp>
        <p:nvSpPr>
          <p:cNvPr id="4" name="Shape 2"/>
          <p:cNvSpPr/>
          <p:nvPr/>
        </p:nvSpPr>
        <p:spPr>
          <a:xfrm>
            <a:off x="548640" y="1600200"/>
            <a:ext cx="5394960" cy="4480560"/>
          </a:xfrm>
          <a:prstGeom prst="roundRect">
            <a:avLst>
              <a:gd name="adj" fmla="val 2041"/>
            </a:avLst>
          </a:prstGeom>
          <a:solidFill>
            <a:srgbClr val="F4F7FA"/>
          </a:solidFill>
          <a:ln/>
        </p:spPr>
        <p:txBody>
          <a:bodyPr/>
          <a:lstStyle/>
          <a:p>
            <a:endParaRPr lang="th-TH"/>
          </a:p>
        </p:txBody>
      </p:sp>
      <p:sp>
        <p:nvSpPr>
          <p:cNvPr id="5" name="Shape 3"/>
          <p:cNvSpPr/>
          <p:nvPr/>
        </p:nvSpPr>
        <p:spPr>
          <a:xfrm>
            <a:off x="868680" y="1874520"/>
            <a:ext cx="457200" cy="457200"/>
          </a:xfrm>
          <a:prstGeom prst="roundRect">
            <a:avLst>
              <a:gd name="adj" fmla="val 20000"/>
            </a:avLst>
          </a:prstGeom>
          <a:solidFill>
            <a:srgbClr val="1C7293"/>
          </a:solidFill>
          <a:ln/>
        </p:spPr>
        <p:txBody>
          <a:bodyPr/>
          <a:lstStyle/>
          <a:p>
            <a:endParaRPr lang="th-TH"/>
          </a:p>
        </p:txBody>
      </p:sp>
      <p:sp>
        <p:nvSpPr>
          <p:cNvPr id="6" name="Text 4"/>
          <p:cNvSpPr/>
          <p:nvPr/>
        </p:nvSpPr>
        <p:spPr>
          <a:xfrm>
            <a:off x="1508760" y="1856232"/>
            <a:ext cx="4114800" cy="502920"/>
          </a:xfrm>
          <a:prstGeom prst="rect">
            <a:avLst/>
          </a:prstGeom>
          <a:noFill/>
          <a:ln/>
        </p:spPr>
        <p:txBody>
          <a:bodyPr wrap="square"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Challenges</a:t>
            </a:r>
            <a:endParaRPr lang="en-US" sz="1700" dirty="0"/>
          </a:p>
        </p:txBody>
      </p:sp>
      <p:sp>
        <p:nvSpPr>
          <p:cNvPr id="7" name="Shape 5"/>
          <p:cNvSpPr/>
          <p:nvPr/>
        </p:nvSpPr>
        <p:spPr>
          <a:xfrm>
            <a:off x="914400" y="2670048"/>
            <a:ext cx="109728" cy="109728"/>
          </a:xfrm>
          <a:prstGeom prst="ellipse">
            <a:avLst/>
          </a:prstGeom>
          <a:solidFill>
            <a:srgbClr val="1C7293"/>
          </a:solidFill>
          <a:ln/>
        </p:spPr>
        <p:txBody>
          <a:bodyPr/>
          <a:lstStyle/>
          <a:p>
            <a:endParaRPr lang="th-TH"/>
          </a:p>
        </p:txBody>
      </p:sp>
      <p:sp>
        <p:nvSpPr>
          <p:cNvPr id="8" name="Text 6"/>
          <p:cNvSpPr/>
          <p:nvPr/>
        </p:nvSpPr>
        <p:spPr>
          <a:xfrm>
            <a:off x="1143000" y="253288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Balancing model size vs. inference speed on limited compute</a:t>
            </a:r>
            <a:endParaRPr lang="en-US" sz="1250" dirty="0"/>
          </a:p>
        </p:txBody>
      </p:sp>
      <p:sp>
        <p:nvSpPr>
          <p:cNvPr id="9" name="Shape 7"/>
          <p:cNvSpPr/>
          <p:nvPr/>
        </p:nvSpPr>
        <p:spPr>
          <a:xfrm>
            <a:off x="914400" y="3538728"/>
            <a:ext cx="109728" cy="109728"/>
          </a:xfrm>
          <a:prstGeom prst="ellipse">
            <a:avLst/>
          </a:prstGeom>
          <a:solidFill>
            <a:srgbClr val="1C7293"/>
          </a:solidFill>
          <a:ln/>
        </p:spPr>
        <p:txBody>
          <a:bodyPr/>
          <a:lstStyle/>
          <a:p>
            <a:endParaRPr lang="th-TH"/>
          </a:p>
        </p:txBody>
      </p:sp>
      <p:sp>
        <p:nvSpPr>
          <p:cNvPr id="10" name="Text 8"/>
          <p:cNvSpPr/>
          <p:nvPr/>
        </p:nvSpPr>
        <p:spPr>
          <a:xfrm>
            <a:off x="1143000" y="340156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Handling ambiguous, multi-part conversational queries</a:t>
            </a:r>
            <a:endParaRPr lang="en-US" sz="1250" dirty="0"/>
          </a:p>
        </p:txBody>
      </p:sp>
      <p:sp>
        <p:nvSpPr>
          <p:cNvPr id="11" name="Shape 9"/>
          <p:cNvSpPr/>
          <p:nvPr/>
        </p:nvSpPr>
        <p:spPr>
          <a:xfrm>
            <a:off x="914400" y="4407408"/>
            <a:ext cx="109728" cy="109728"/>
          </a:xfrm>
          <a:prstGeom prst="ellipse">
            <a:avLst/>
          </a:prstGeom>
          <a:solidFill>
            <a:srgbClr val="1C7293"/>
          </a:solidFill>
          <a:ln/>
        </p:spPr>
        <p:txBody>
          <a:bodyPr/>
          <a:lstStyle/>
          <a:p>
            <a:endParaRPr lang="th-TH"/>
          </a:p>
        </p:txBody>
      </p:sp>
      <p:sp>
        <p:nvSpPr>
          <p:cNvPr id="12" name="Text 10"/>
          <p:cNvSpPr/>
          <p:nvPr/>
        </p:nvSpPr>
        <p:spPr>
          <a:xfrm>
            <a:off x="1143000" y="427024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Maintaining topic coherence on short, mixed-topic articles</a:t>
            </a:r>
            <a:endParaRPr lang="en-US" sz="1250" dirty="0"/>
          </a:p>
        </p:txBody>
      </p:sp>
      <p:sp>
        <p:nvSpPr>
          <p:cNvPr id="13" name="Shape 11"/>
          <p:cNvSpPr/>
          <p:nvPr/>
        </p:nvSpPr>
        <p:spPr>
          <a:xfrm>
            <a:off x="6172200" y="1600200"/>
            <a:ext cx="5394960" cy="4480560"/>
          </a:xfrm>
          <a:prstGeom prst="roundRect">
            <a:avLst>
              <a:gd name="adj" fmla="val 2041"/>
            </a:avLst>
          </a:prstGeom>
          <a:solidFill>
            <a:srgbClr val="F4F7FA"/>
          </a:solidFill>
          <a:ln/>
        </p:spPr>
        <p:txBody>
          <a:bodyPr/>
          <a:lstStyle/>
          <a:p>
            <a:endParaRPr lang="th-TH"/>
          </a:p>
        </p:txBody>
      </p:sp>
      <p:sp>
        <p:nvSpPr>
          <p:cNvPr id="14" name="Shape 12"/>
          <p:cNvSpPr/>
          <p:nvPr/>
        </p:nvSpPr>
        <p:spPr>
          <a:xfrm>
            <a:off x="6492240" y="1874520"/>
            <a:ext cx="457200" cy="457200"/>
          </a:xfrm>
          <a:prstGeom prst="roundRect">
            <a:avLst>
              <a:gd name="adj" fmla="val 20000"/>
            </a:avLst>
          </a:prstGeom>
          <a:solidFill>
            <a:srgbClr val="E8A33D"/>
          </a:solidFill>
          <a:ln/>
        </p:spPr>
        <p:txBody>
          <a:bodyPr/>
          <a:lstStyle/>
          <a:p>
            <a:endParaRPr lang="th-TH"/>
          </a:p>
        </p:txBody>
      </p:sp>
      <p:sp>
        <p:nvSpPr>
          <p:cNvPr id="15" name="Text 13"/>
          <p:cNvSpPr/>
          <p:nvPr/>
        </p:nvSpPr>
        <p:spPr>
          <a:xfrm>
            <a:off x="7132320" y="1856232"/>
            <a:ext cx="4114800" cy="502920"/>
          </a:xfrm>
          <a:prstGeom prst="rect">
            <a:avLst/>
          </a:prstGeom>
          <a:noFill/>
          <a:ln/>
        </p:spPr>
        <p:txBody>
          <a:bodyPr wrap="square"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Lessons Learned</a:t>
            </a:r>
            <a:endParaRPr lang="en-US" sz="1700" dirty="0"/>
          </a:p>
        </p:txBody>
      </p:sp>
      <p:sp>
        <p:nvSpPr>
          <p:cNvPr id="16" name="Shape 14"/>
          <p:cNvSpPr/>
          <p:nvPr/>
        </p:nvSpPr>
        <p:spPr>
          <a:xfrm>
            <a:off x="6537960" y="2670048"/>
            <a:ext cx="109728" cy="109728"/>
          </a:xfrm>
          <a:prstGeom prst="ellipse">
            <a:avLst/>
          </a:prstGeom>
          <a:solidFill>
            <a:srgbClr val="E8A33D"/>
          </a:solidFill>
          <a:ln/>
        </p:spPr>
        <p:txBody>
          <a:bodyPr/>
          <a:lstStyle/>
          <a:p>
            <a:endParaRPr lang="th-TH"/>
          </a:p>
        </p:txBody>
      </p:sp>
      <p:sp>
        <p:nvSpPr>
          <p:cNvPr id="17" name="Text 15"/>
          <p:cNvSpPr/>
          <p:nvPr/>
        </p:nvSpPr>
        <p:spPr>
          <a:xfrm>
            <a:off x="6766560" y="253288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Fallback handling keeps the system usable when one model fails</a:t>
            </a:r>
            <a:endParaRPr lang="en-US" sz="1250" dirty="0"/>
          </a:p>
        </p:txBody>
      </p:sp>
      <p:sp>
        <p:nvSpPr>
          <p:cNvPr id="18" name="Shape 16"/>
          <p:cNvSpPr/>
          <p:nvPr/>
        </p:nvSpPr>
        <p:spPr>
          <a:xfrm>
            <a:off x="6537960" y="3538728"/>
            <a:ext cx="109728" cy="109728"/>
          </a:xfrm>
          <a:prstGeom prst="ellipse">
            <a:avLst/>
          </a:prstGeom>
          <a:solidFill>
            <a:srgbClr val="E8A33D"/>
          </a:solidFill>
          <a:ln/>
        </p:spPr>
        <p:txBody>
          <a:bodyPr/>
          <a:lstStyle/>
          <a:p>
            <a:endParaRPr lang="th-TH"/>
          </a:p>
        </p:txBody>
      </p:sp>
      <p:sp>
        <p:nvSpPr>
          <p:cNvPr id="19" name="Text 17"/>
          <p:cNvSpPr/>
          <p:nvPr/>
        </p:nvSpPr>
        <p:spPr>
          <a:xfrm>
            <a:off x="6766560" y="340156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Pretrained transformers dramatically cut development time</a:t>
            </a:r>
            <a:endParaRPr lang="en-US" sz="1250" dirty="0"/>
          </a:p>
        </p:txBody>
      </p:sp>
      <p:sp>
        <p:nvSpPr>
          <p:cNvPr id="20" name="Shape 18"/>
          <p:cNvSpPr/>
          <p:nvPr/>
        </p:nvSpPr>
        <p:spPr>
          <a:xfrm>
            <a:off x="6537960" y="4407408"/>
            <a:ext cx="109728" cy="109728"/>
          </a:xfrm>
          <a:prstGeom prst="ellipse">
            <a:avLst/>
          </a:prstGeom>
          <a:solidFill>
            <a:srgbClr val="E8A33D"/>
          </a:solidFill>
          <a:ln/>
        </p:spPr>
        <p:txBody>
          <a:bodyPr/>
          <a:lstStyle/>
          <a:p>
            <a:endParaRPr lang="th-TH"/>
          </a:p>
        </p:txBody>
      </p:sp>
      <p:sp>
        <p:nvSpPr>
          <p:cNvPr id="21" name="Text 19"/>
          <p:cNvSpPr/>
          <p:nvPr/>
        </p:nvSpPr>
        <p:spPr>
          <a:xfrm>
            <a:off x="6766560" y="4270248"/>
            <a:ext cx="4572000" cy="685800"/>
          </a:xfrm>
          <a:prstGeom prst="rect">
            <a:avLst/>
          </a:prstGeom>
          <a:noFill/>
          <a:ln/>
        </p:spPr>
        <p:txBody>
          <a:bodyPr wrap="square" rtlCol="0" anchor="ctr"/>
          <a:lstStyle/>
          <a:p>
            <a:pPr marL="0" indent="0">
              <a:lnSpc>
                <a:spcPts val="1600"/>
              </a:lnSpc>
              <a:buNone/>
            </a:pPr>
            <a:r>
              <a:rPr lang="en-US" sz="1250" dirty="0">
                <a:solidFill>
                  <a:srgbClr val="1B2733"/>
                </a:solidFill>
                <a:latin typeface="Calibri" pitchFamily="34" charset="0"/>
                <a:ea typeface="Calibri" pitchFamily="34" charset="-122"/>
                <a:cs typeface="Calibri" pitchFamily="34" charset="-120"/>
              </a:rPr>
              <a:t>Evaluation early and often prevents late-stage surprises</a:t>
            </a:r>
            <a:endParaRPr lang="en-US" sz="1250" dirty="0"/>
          </a:p>
        </p:txBody>
      </p:sp>
      <p:sp>
        <p:nvSpPr>
          <p:cNvPr id="22"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685800"/>
            <a:ext cx="7772400" cy="64008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Roadmap for NewsBot 3.0</a:t>
            </a:r>
            <a:endParaRPr lang="en-US" sz="2800" dirty="0"/>
          </a:p>
        </p:txBody>
      </p:sp>
      <p:sp>
        <p:nvSpPr>
          <p:cNvPr id="4" name="Shape 2"/>
          <p:cNvSpPr/>
          <p:nvPr/>
        </p:nvSpPr>
        <p:spPr>
          <a:xfrm>
            <a:off x="548640" y="1691640"/>
            <a:ext cx="5349240" cy="2194560"/>
          </a:xfrm>
          <a:prstGeom prst="roundRect">
            <a:avLst>
              <a:gd name="adj" fmla="val 4167"/>
            </a:avLst>
          </a:prstGeom>
          <a:solidFill>
            <a:srgbClr val="FFFFFF"/>
          </a:solidFill>
          <a:ln w="12700">
            <a:solidFill>
              <a:srgbClr val="CADCFC"/>
            </a:solidFill>
            <a:prstDash val="solid"/>
          </a:ln>
        </p:spPr>
        <p:txBody>
          <a:bodyPr/>
          <a:lstStyle/>
          <a:p>
            <a:endParaRPr lang="th-TH"/>
          </a:p>
        </p:txBody>
      </p:sp>
      <p:sp>
        <p:nvSpPr>
          <p:cNvPr id="5" name="Text 3"/>
          <p:cNvSpPr/>
          <p:nvPr/>
        </p:nvSpPr>
        <p:spPr>
          <a:xfrm>
            <a:off x="822960" y="1920240"/>
            <a:ext cx="1097280" cy="548640"/>
          </a:xfrm>
          <a:prstGeom prst="rect">
            <a:avLst/>
          </a:prstGeom>
          <a:noFill/>
          <a:ln/>
        </p:spPr>
        <p:txBody>
          <a:bodyPr wrap="square"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822960" y="2560320"/>
            <a:ext cx="480060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Fine-tuned Transformers</a:t>
            </a:r>
            <a:endParaRPr lang="en-US" sz="1450" dirty="0"/>
          </a:p>
        </p:txBody>
      </p:sp>
      <p:sp>
        <p:nvSpPr>
          <p:cNvPr id="7" name="Text 5"/>
          <p:cNvSpPr/>
          <p:nvPr/>
        </p:nvSpPr>
        <p:spPr>
          <a:xfrm>
            <a:off x="822960" y="2971800"/>
            <a:ext cx="480060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Adapt BERT/RoBERTa specifically to news classification for higher accuracy.</a:t>
            </a:r>
            <a:endParaRPr lang="en-US" sz="1150" dirty="0"/>
          </a:p>
        </p:txBody>
      </p:sp>
      <p:sp>
        <p:nvSpPr>
          <p:cNvPr id="8" name="Shape 6"/>
          <p:cNvSpPr/>
          <p:nvPr/>
        </p:nvSpPr>
        <p:spPr>
          <a:xfrm>
            <a:off x="6217920" y="1691640"/>
            <a:ext cx="5349240" cy="2194560"/>
          </a:xfrm>
          <a:prstGeom prst="roundRect">
            <a:avLst>
              <a:gd name="adj" fmla="val 4167"/>
            </a:avLst>
          </a:prstGeom>
          <a:solidFill>
            <a:srgbClr val="FFFFFF"/>
          </a:solidFill>
          <a:ln w="12700">
            <a:solidFill>
              <a:srgbClr val="CADCFC"/>
            </a:solidFill>
            <a:prstDash val="solid"/>
          </a:ln>
        </p:spPr>
        <p:txBody>
          <a:bodyPr/>
          <a:lstStyle/>
          <a:p>
            <a:endParaRPr lang="th-TH"/>
          </a:p>
        </p:txBody>
      </p:sp>
      <p:sp>
        <p:nvSpPr>
          <p:cNvPr id="9" name="Text 7"/>
          <p:cNvSpPr/>
          <p:nvPr/>
        </p:nvSpPr>
        <p:spPr>
          <a:xfrm>
            <a:off x="6492240" y="1920240"/>
            <a:ext cx="1097280" cy="548640"/>
          </a:xfrm>
          <a:prstGeom prst="rect">
            <a:avLst/>
          </a:prstGeom>
          <a:noFill/>
          <a:ln/>
        </p:spPr>
        <p:txBody>
          <a:bodyPr wrap="square"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6492240" y="2560320"/>
            <a:ext cx="480060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Real-Time Streaming</a:t>
            </a:r>
            <a:endParaRPr lang="en-US" sz="1450" dirty="0"/>
          </a:p>
        </p:txBody>
      </p:sp>
      <p:sp>
        <p:nvSpPr>
          <p:cNvPr id="11" name="Text 9"/>
          <p:cNvSpPr/>
          <p:nvPr/>
        </p:nvSpPr>
        <p:spPr>
          <a:xfrm>
            <a:off x="6492240" y="2971800"/>
            <a:ext cx="480060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Process live news feeds as they publish, not in scheduled batches.</a:t>
            </a:r>
            <a:endParaRPr lang="en-US" sz="1150" dirty="0"/>
          </a:p>
        </p:txBody>
      </p:sp>
      <p:sp>
        <p:nvSpPr>
          <p:cNvPr id="12" name="Shape 10"/>
          <p:cNvSpPr/>
          <p:nvPr/>
        </p:nvSpPr>
        <p:spPr>
          <a:xfrm>
            <a:off x="548640" y="4160520"/>
            <a:ext cx="5349240" cy="2194560"/>
          </a:xfrm>
          <a:prstGeom prst="roundRect">
            <a:avLst>
              <a:gd name="adj" fmla="val 4167"/>
            </a:avLst>
          </a:prstGeom>
          <a:solidFill>
            <a:srgbClr val="FFFFFF"/>
          </a:solidFill>
          <a:ln w="12700">
            <a:solidFill>
              <a:srgbClr val="CADCFC"/>
            </a:solidFill>
            <a:prstDash val="solid"/>
          </a:ln>
        </p:spPr>
        <p:txBody>
          <a:bodyPr/>
          <a:lstStyle/>
          <a:p>
            <a:endParaRPr lang="th-TH"/>
          </a:p>
        </p:txBody>
      </p:sp>
      <p:sp>
        <p:nvSpPr>
          <p:cNvPr id="13" name="Text 11"/>
          <p:cNvSpPr/>
          <p:nvPr/>
        </p:nvSpPr>
        <p:spPr>
          <a:xfrm>
            <a:off x="822960" y="4389120"/>
            <a:ext cx="1097280" cy="548640"/>
          </a:xfrm>
          <a:prstGeom prst="rect">
            <a:avLst/>
          </a:prstGeom>
          <a:noFill/>
          <a:ln/>
        </p:spPr>
        <p:txBody>
          <a:bodyPr wrap="square"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822960" y="5029200"/>
            <a:ext cx="480060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Bias &amp; Fact-Check Detection</a:t>
            </a:r>
            <a:endParaRPr lang="en-US" sz="1450" dirty="0"/>
          </a:p>
        </p:txBody>
      </p:sp>
      <p:sp>
        <p:nvSpPr>
          <p:cNvPr id="15" name="Text 13"/>
          <p:cNvSpPr/>
          <p:nvPr/>
        </p:nvSpPr>
        <p:spPr>
          <a:xfrm>
            <a:off x="822960" y="5440680"/>
            <a:ext cx="480060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Flag potential political or cultural bias and cross-reference claims.</a:t>
            </a:r>
            <a:endParaRPr lang="en-US" sz="1150" dirty="0"/>
          </a:p>
        </p:txBody>
      </p:sp>
      <p:sp>
        <p:nvSpPr>
          <p:cNvPr id="16" name="Shape 14"/>
          <p:cNvSpPr/>
          <p:nvPr/>
        </p:nvSpPr>
        <p:spPr>
          <a:xfrm>
            <a:off x="6217920" y="4160520"/>
            <a:ext cx="5349240" cy="2194560"/>
          </a:xfrm>
          <a:prstGeom prst="roundRect">
            <a:avLst>
              <a:gd name="adj" fmla="val 4167"/>
            </a:avLst>
          </a:prstGeom>
          <a:solidFill>
            <a:srgbClr val="FFFFFF"/>
          </a:solidFill>
          <a:ln w="12700">
            <a:solidFill>
              <a:srgbClr val="CADCFC"/>
            </a:solidFill>
            <a:prstDash val="solid"/>
          </a:ln>
        </p:spPr>
        <p:txBody>
          <a:bodyPr/>
          <a:lstStyle/>
          <a:p>
            <a:endParaRPr lang="th-TH"/>
          </a:p>
        </p:txBody>
      </p:sp>
      <p:sp>
        <p:nvSpPr>
          <p:cNvPr id="17" name="Text 15"/>
          <p:cNvSpPr/>
          <p:nvPr/>
        </p:nvSpPr>
        <p:spPr>
          <a:xfrm>
            <a:off x="6492240" y="4389120"/>
            <a:ext cx="1097280" cy="548640"/>
          </a:xfrm>
          <a:prstGeom prst="rect">
            <a:avLst/>
          </a:prstGeom>
          <a:noFill/>
          <a:ln/>
        </p:spPr>
        <p:txBody>
          <a:bodyPr wrap="square"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6492240" y="5029200"/>
            <a:ext cx="480060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Web Application Frontend</a:t>
            </a:r>
            <a:endParaRPr lang="en-US" sz="1450" dirty="0"/>
          </a:p>
        </p:txBody>
      </p:sp>
      <p:sp>
        <p:nvSpPr>
          <p:cNvPr id="19" name="Text 17"/>
          <p:cNvSpPr/>
          <p:nvPr/>
        </p:nvSpPr>
        <p:spPr>
          <a:xfrm>
            <a:off x="6492240" y="5440680"/>
            <a:ext cx="480060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A live dashboard for non-technical stakeholders to explore insights.</a:t>
            </a:r>
            <a:endParaRPr lang="en-US" sz="1150" dirty="0"/>
          </a:p>
        </p:txBody>
      </p:sp>
      <p:sp>
        <p:nvSpPr>
          <p:cNvPr id="20" name="Text 18"/>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188720" y="-1463040"/>
            <a:ext cx="4114800" cy="4114800"/>
          </a:xfrm>
          <a:prstGeom prst="ellipse">
            <a:avLst/>
          </a:prstGeom>
          <a:solidFill>
            <a:srgbClr val="081A33"/>
          </a:solidFill>
          <a:ln/>
        </p:spPr>
        <p:txBody>
          <a:bodyPr/>
          <a:lstStyle/>
          <a:p>
            <a:endParaRPr lang="th-TH"/>
          </a:p>
        </p:txBody>
      </p:sp>
      <p:sp>
        <p:nvSpPr>
          <p:cNvPr id="3" name="Shape 1"/>
          <p:cNvSpPr/>
          <p:nvPr/>
        </p:nvSpPr>
        <p:spPr>
          <a:xfrm>
            <a:off x="9875520" y="4389120"/>
            <a:ext cx="3291840" cy="3291840"/>
          </a:xfrm>
          <a:prstGeom prst="ellipse">
            <a:avLst/>
          </a:prstGeom>
          <a:solidFill>
            <a:srgbClr val="1C7293">
              <a:alpha val="25000"/>
            </a:srgbClr>
          </a:solidFill>
          <a:ln/>
        </p:spPr>
        <p:txBody>
          <a:bodyPr/>
          <a:lstStyle/>
          <a:p>
            <a:endParaRPr lang="th-TH"/>
          </a:p>
        </p:txBody>
      </p:sp>
      <p:sp>
        <p:nvSpPr>
          <p:cNvPr id="4" name="Text 2"/>
          <p:cNvSpPr/>
          <p:nvPr/>
        </p:nvSpPr>
        <p:spPr>
          <a:xfrm>
            <a:off x="0" y="2377440"/>
            <a:ext cx="12188952" cy="10058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0" y="3337560"/>
            <a:ext cx="12188952" cy="548640"/>
          </a:xfrm>
          <a:prstGeom prst="rect">
            <a:avLst/>
          </a:prstGeom>
          <a:noFill/>
          <a:ln/>
        </p:spPr>
        <p:txBody>
          <a:bodyPr wrap="square" rtlCol="0" anchor="ctr"/>
          <a:lstStyle/>
          <a:p>
            <a:pPr marL="0" indent="0" algn="ctr">
              <a:buNone/>
            </a:pPr>
            <a:r>
              <a:rPr lang="en-US" sz="1800" dirty="0">
                <a:solidFill>
                  <a:srgbClr val="E8A33D"/>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5088636" y="4114800"/>
            <a:ext cx="2011680" cy="0"/>
          </a:xfrm>
          <a:prstGeom prst="line">
            <a:avLst/>
          </a:prstGeom>
          <a:noFill/>
          <a:ln w="25400">
            <a:solidFill>
              <a:srgbClr val="E8A33D"/>
            </a:solidFill>
            <a:prstDash val="solid"/>
          </a:ln>
        </p:spPr>
        <p:txBody>
          <a:bodyPr/>
          <a:lstStyle/>
          <a:p>
            <a:endParaRPr lang="th-TH"/>
          </a:p>
        </p:txBody>
      </p:sp>
      <p:sp>
        <p:nvSpPr>
          <p:cNvPr id="7" name="Text 5"/>
          <p:cNvSpPr/>
          <p:nvPr/>
        </p:nvSpPr>
        <p:spPr>
          <a:xfrm>
            <a:off x="0" y="4343400"/>
            <a:ext cx="12188952" cy="36576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Nertnapha Sanwiwat  ·  NewsBot Intelligence System 2.0  ·  ITAI 2373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2701</Words>
  <Application>Microsoft Office PowerPoint</Application>
  <PresentationFormat>Widescreen</PresentationFormat>
  <Paragraphs>257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Nertnapha Sanwiwat</cp:lastModifiedBy>
  <cp:revision>2</cp:revision>
  <dcterms:created xsi:type="dcterms:W3CDTF">2026-08-08T00:37:47Z</dcterms:created>
  <dcterms:modified xsi:type="dcterms:W3CDTF">2026-08-08T01:55:30Z</dcterms:modified>
</cp:coreProperties>
</file>